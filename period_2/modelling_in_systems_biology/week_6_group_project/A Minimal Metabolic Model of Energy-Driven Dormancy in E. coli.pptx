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slide" Target="slides/slide19.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f41ca58e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f41ca58e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l">
                <a:solidFill>
                  <a:schemeClr val="dk1"/>
                </a:solidFill>
              </a:rPr>
              <a:t>In particular, the </a:t>
            </a:r>
            <a:r>
              <a:rPr b="1" lang="el">
                <a:solidFill>
                  <a:schemeClr val="dk1"/>
                </a:solidFill>
              </a:rPr>
              <a:t>core metabolic pathway</a:t>
            </a:r>
            <a:r>
              <a:rPr lang="el">
                <a:solidFill>
                  <a:schemeClr val="dk1"/>
                </a:solidFill>
              </a:rPr>
              <a:t> </a:t>
            </a:r>
            <a:r>
              <a:rPr b="1" lang="el">
                <a:solidFill>
                  <a:schemeClr val="dk1"/>
                </a:solidFill>
              </a:rPr>
              <a:t>described </a:t>
            </a:r>
            <a:r>
              <a:rPr lang="el">
                <a:solidFill>
                  <a:schemeClr val="dk1"/>
                </a:solidFill>
              </a:rPr>
              <a:t>in the </a:t>
            </a:r>
            <a:r>
              <a:rPr b="1" lang="el">
                <a:solidFill>
                  <a:schemeClr val="dk1"/>
                </a:solidFill>
              </a:rPr>
              <a:t>papers </a:t>
            </a:r>
            <a:r>
              <a:rPr lang="el">
                <a:solidFill>
                  <a:schemeClr val="dk1"/>
                </a:solidFill>
              </a:rPr>
              <a:t>that were introduced to us consists of the </a:t>
            </a:r>
            <a:r>
              <a:rPr b="1" lang="el">
                <a:solidFill>
                  <a:schemeClr val="dk1"/>
                </a:solidFill>
              </a:rPr>
              <a:t>uptake </a:t>
            </a:r>
            <a:r>
              <a:rPr lang="el">
                <a:solidFill>
                  <a:schemeClr val="dk1"/>
                </a:solidFill>
              </a:rPr>
              <a:t>of </a:t>
            </a:r>
            <a:r>
              <a:rPr b="1" lang="el">
                <a:solidFill>
                  <a:schemeClr val="dk1"/>
                </a:solidFill>
              </a:rPr>
              <a:t>Glucose </a:t>
            </a:r>
            <a:r>
              <a:rPr lang="el">
                <a:solidFill>
                  <a:schemeClr val="dk1"/>
                </a:solidFill>
              </a:rPr>
              <a:t>by E. </a:t>
            </a:r>
            <a:r>
              <a:rPr b="1" lang="el">
                <a:solidFill>
                  <a:schemeClr val="dk1"/>
                </a:solidFill>
              </a:rPr>
              <a:t>coli </a:t>
            </a:r>
            <a:r>
              <a:rPr lang="el">
                <a:solidFill>
                  <a:schemeClr val="dk1"/>
                </a:solidFill>
              </a:rPr>
              <a:t>to start </a:t>
            </a:r>
            <a:r>
              <a:rPr b="1" lang="el">
                <a:solidFill>
                  <a:schemeClr val="dk1"/>
                </a:solidFill>
              </a:rPr>
              <a:t>metabolism </a:t>
            </a:r>
            <a:r>
              <a:rPr lang="el">
                <a:solidFill>
                  <a:schemeClr val="dk1"/>
                </a:solidFill>
              </a:rPr>
              <a:t>via the </a:t>
            </a:r>
            <a:r>
              <a:rPr b="1" lang="el">
                <a:solidFill>
                  <a:schemeClr val="dk1"/>
                </a:solidFill>
              </a:rPr>
              <a:t>glycolysis </a:t>
            </a:r>
            <a:r>
              <a:rPr lang="el">
                <a:solidFill>
                  <a:schemeClr val="dk1"/>
                </a:solidFill>
              </a:rPr>
              <a:t>and </a:t>
            </a:r>
            <a:r>
              <a:rPr b="1" lang="el">
                <a:solidFill>
                  <a:schemeClr val="dk1"/>
                </a:solidFill>
              </a:rPr>
              <a:t>pentose phosphate pathways</a:t>
            </a:r>
            <a:r>
              <a:rPr lang="el">
                <a:solidFill>
                  <a:schemeClr val="dk1"/>
                </a:solidFill>
              </a:rPr>
              <a: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l">
                <a:solidFill>
                  <a:schemeClr val="dk1"/>
                </a:solidFill>
              </a:rPr>
              <a:t>From the metabolites in the </a:t>
            </a:r>
            <a:r>
              <a:rPr b="1" lang="el">
                <a:solidFill>
                  <a:schemeClr val="dk1"/>
                </a:solidFill>
              </a:rPr>
              <a:t>upper </a:t>
            </a:r>
            <a:r>
              <a:rPr b="1" lang="el">
                <a:solidFill>
                  <a:schemeClr val="dk1"/>
                </a:solidFill>
              </a:rPr>
              <a:t>glycolysis </a:t>
            </a:r>
            <a:r>
              <a:rPr b="1" lang="el">
                <a:solidFill>
                  <a:schemeClr val="dk1"/>
                </a:solidFill>
              </a:rPr>
              <a:t>pathway</a:t>
            </a:r>
            <a:r>
              <a:rPr lang="el">
                <a:solidFill>
                  <a:schemeClr val="dk1"/>
                </a:solidFill>
              </a:rPr>
              <a:t>, phosphoenolpyruvate (</a:t>
            </a:r>
            <a:r>
              <a:rPr b="1" lang="el">
                <a:solidFill>
                  <a:schemeClr val="dk1"/>
                </a:solidFill>
              </a:rPr>
              <a:t>PEP</a:t>
            </a:r>
            <a:r>
              <a:rPr lang="el">
                <a:solidFill>
                  <a:schemeClr val="dk1"/>
                </a:solidFill>
              </a:rPr>
              <a:t>), pyruvate (</a:t>
            </a:r>
            <a:r>
              <a:rPr b="1" lang="el">
                <a:solidFill>
                  <a:schemeClr val="dk1"/>
                </a:solidFill>
              </a:rPr>
              <a:t>PYR</a:t>
            </a:r>
            <a:r>
              <a:rPr lang="el">
                <a:solidFill>
                  <a:schemeClr val="dk1"/>
                </a:solidFill>
              </a:rPr>
              <a:t>) and oxaloacetate (</a:t>
            </a:r>
            <a:r>
              <a:rPr b="1" lang="el">
                <a:solidFill>
                  <a:schemeClr val="dk1"/>
                </a:solidFill>
              </a:rPr>
              <a:t>OAA</a:t>
            </a:r>
            <a:r>
              <a:rPr lang="el">
                <a:solidFill>
                  <a:schemeClr val="dk1"/>
                </a:solidFill>
              </a:rPr>
              <a:t>) are produced to control the </a:t>
            </a:r>
            <a:r>
              <a:rPr b="1" lang="el">
                <a:solidFill>
                  <a:schemeClr val="dk1"/>
                </a:solidFill>
              </a:rPr>
              <a:t>TCA cycle</a:t>
            </a:r>
            <a:r>
              <a:rPr lang="el">
                <a:solidFill>
                  <a:schemeClr val="dk1"/>
                </a:solidFill>
              </a:rPr>
              <a:t>, and </a:t>
            </a:r>
            <a:r>
              <a:rPr b="1" lang="el">
                <a:solidFill>
                  <a:schemeClr val="dk1"/>
                </a:solidFill>
              </a:rPr>
              <a:t>cell growth</a:t>
            </a:r>
            <a:r>
              <a:rPr lang="el">
                <a:solidFill>
                  <a:schemeClr val="dk1"/>
                </a:solidFill>
              </a:rPr>
              <a:t>. These conversions </a:t>
            </a:r>
            <a:r>
              <a:rPr b="1" lang="el">
                <a:solidFill>
                  <a:schemeClr val="dk1"/>
                </a:solidFill>
              </a:rPr>
              <a:t>depend </a:t>
            </a:r>
            <a:r>
              <a:rPr lang="el">
                <a:solidFill>
                  <a:schemeClr val="dk1"/>
                </a:solidFill>
              </a:rPr>
              <a:t>on the </a:t>
            </a:r>
            <a:r>
              <a:rPr b="1" lang="el">
                <a:solidFill>
                  <a:schemeClr val="dk1"/>
                </a:solidFill>
              </a:rPr>
              <a:t>cell’s energy status </a:t>
            </a:r>
            <a:r>
              <a:rPr lang="el">
                <a:solidFill>
                  <a:schemeClr val="dk1"/>
                </a:solidFill>
              </a:rPr>
              <a:t>that is often considered as the </a:t>
            </a:r>
            <a:r>
              <a:rPr b="1" lang="el">
                <a:solidFill>
                  <a:schemeClr val="dk1"/>
                </a:solidFill>
              </a:rPr>
              <a:t>ratio </a:t>
            </a:r>
            <a:r>
              <a:rPr lang="el">
                <a:solidFill>
                  <a:schemeClr val="dk1"/>
                </a:solidFill>
              </a:rPr>
              <a:t>of available adenosine tri-phosphate (</a:t>
            </a:r>
            <a:r>
              <a:rPr b="1" lang="el">
                <a:solidFill>
                  <a:schemeClr val="dk1"/>
                </a:solidFill>
              </a:rPr>
              <a:t>ATP</a:t>
            </a:r>
            <a:r>
              <a:rPr lang="el">
                <a:solidFill>
                  <a:schemeClr val="dk1"/>
                </a:solidFill>
              </a:rPr>
              <a:t>) and adenosine di-phosphate (</a:t>
            </a:r>
            <a:r>
              <a:rPr b="1" lang="el">
                <a:solidFill>
                  <a:schemeClr val="dk1"/>
                </a:solidFill>
              </a:rPr>
              <a:t>ADP</a:t>
            </a:r>
            <a:r>
              <a:rPr lang="el">
                <a:solidFill>
                  <a:schemeClr val="dk1"/>
                </a:solidFill>
              </a:rPr>
              <a: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l">
                <a:solidFill>
                  <a:schemeClr val="dk1"/>
                </a:solidFill>
              </a:rPr>
              <a:t>The general direction of our research is to </a:t>
            </a:r>
            <a:r>
              <a:rPr b="1" lang="el">
                <a:solidFill>
                  <a:schemeClr val="dk1"/>
                </a:solidFill>
              </a:rPr>
              <a:t>uncover </a:t>
            </a:r>
            <a:r>
              <a:rPr lang="el">
                <a:solidFill>
                  <a:schemeClr val="dk1"/>
                </a:solidFill>
              </a:rPr>
              <a:t>what is </a:t>
            </a:r>
            <a:r>
              <a:rPr b="1" lang="el">
                <a:solidFill>
                  <a:schemeClr val="dk1"/>
                </a:solidFill>
              </a:rPr>
              <a:t>required </a:t>
            </a:r>
            <a:r>
              <a:rPr lang="el">
                <a:solidFill>
                  <a:schemeClr val="dk1"/>
                </a:solidFill>
              </a:rPr>
              <a:t>for </a:t>
            </a:r>
            <a:r>
              <a:rPr b="1" lang="el">
                <a:solidFill>
                  <a:schemeClr val="dk1"/>
                </a:solidFill>
              </a:rPr>
              <a:t>dormant cells </a:t>
            </a:r>
            <a:r>
              <a:rPr lang="el">
                <a:solidFill>
                  <a:schemeClr val="dk1"/>
                </a:solidFill>
              </a:rPr>
              <a:t>to start </a:t>
            </a:r>
            <a:r>
              <a:rPr b="1" lang="el">
                <a:solidFill>
                  <a:schemeClr val="dk1"/>
                </a:solidFill>
              </a:rPr>
              <a:t>growing</a:t>
            </a:r>
            <a:r>
              <a:rPr lang="el">
                <a:solidFill>
                  <a:schemeClr val="dk1"/>
                </a:solidFill>
              </a:rPr>
              <a:t>. We will use </a:t>
            </a:r>
            <a:r>
              <a:rPr b="1" lang="el">
                <a:solidFill>
                  <a:schemeClr val="dk1"/>
                </a:solidFill>
              </a:rPr>
              <a:t>PEP concentration </a:t>
            </a:r>
            <a:r>
              <a:rPr lang="el">
                <a:solidFill>
                  <a:schemeClr val="dk1"/>
                </a:solidFill>
              </a:rPr>
              <a:t>as a </a:t>
            </a:r>
            <a:r>
              <a:rPr b="1" lang="el">
                <a:solidFill>
                  <a:schemeClr val="dk1"/>
                </a:solidFill>
              </a:rPr>
              <a:t>read-out</a:t>
            </a:r>
            <a:r>
              <a:rPr lang="el">
                <a:solidFill>
                  <a:schemeClr val="dk1"/>
                </a:solidFill>
              </a:rPr>
              <a:t> for </a:t>
            </a:r>
            <a:r>
              <a:rPr b="1" lang="el">
                <a:solidFill>
                  <a:schemeClr val="dk1"/>
                </a:solidFill>
              </a:rPr>
              <a:t>cell growth rates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f05ab738b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af05ab738b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l">
                <a:solidFill>
                  <a:schemeClr val="dk1"/>
                </a:solidFill>
              </a:rPr>
              <a:t>Before we can analyze dormancy and growth, we first need a model whose behaviour </a:t>
            </a:r>
            <a:r>
              <a:rPr b="1" lang="el">
                <a:solidFill>
                  <a:schemeClr val="dk1"/>
                </a:solidFill>
              </a:rPr>
              <a:t>matches </a:t>
            </a:r>
            <a:r>
              <a:rPr lang="el">
                <a:solidFill>
                  <a:schemeClr val="dk1"/>
                </a:solidFill>
              </a:rPr>
              <a:t>the </a:t>
            </a:r>
            <a:r>
              <a:rPr b="1" lang="el">
                <a:solidFill>
                  <a:schemeClr val="dk1"/>
                </a:solidFill>
              </a:rPr>
              <a:t>experimental data</a:t>
            </a:r>
            <a:r>
              <a:rPr lang="el">
                <a:solidFill>
                  <a:schemeClr val="dk1"/>
                </a:solidFill>
              </a:rPr>
              <a:t>. We have </a:t>
            </a:r>
            <a:r>
              <a:rPr b="1" lang="el">
                <a:solidFill>
                  <a:schemeClr val="dk1"/>
                </a:solidFill>
              </a:rPr>
              <a:t>time</a:t>
            </a:r>
            <a:r>
              <a:rPr lang="el">
                <a:solidFill>
                  <a:schemeClr val="dk1"/>
                </a:solidFill>
              </a:rPr>
              <a:t>-</a:t>
            </a:r>
            <a:r>
              <a:rPr b="1" lang="el">
                <a:solidFill>
                  <a:schemeClr val="dk1"/>
                </a:solidFill>
              </a:rPr>
              <a:t>series</a:t>
            </a:r>
            <a:r>
              <a:rPr lang="el">
                <a:solidFill>
                  <a:schemeClr val="dk1"/>
                </a:solidFill>
              </a:rPr>
              <a:t> measurements of </a:t>
            </a:r>
            <a:r>
              <a:rPr b="1" lang="el">
                <a:solidFill>
                  <a:schemeClr val="dk1"/>
                </a:solidFill>
              </a:rPr>
              <a:t>PEP </a:t>
            </a:r>
            <a:r>
              <a:rPr lang="el">
                <a:solidFill>
                  <a:schemeClr val="dk1"/>
                </a:solidFill>
              </a:rPr>
              <a:t>and </a:t>
            </a:r>
            <a:r>
              <a:rPr b="1" lang="el">
                <a:solidFill>
                  <a:schemeClr val="dk1"/>
                </a:solidFill>
              </a:rPr>
              <a:t>PYR </a:t>
            </a:r>
            <a:r>
              <a:rPr lang="el">
                <a:solidFill>
                  <a:schemeClr val="dk1"/>
                </a:solidFill>
              </a:rPr>
              <a:t>of three different values of r (</a:t>
            </a:r>
            <a:r>
              <a:rPr b="1" lang="el">
                <a:solidFill>
                  <a:schemeClr val="dk1"/>
                </a:solidFill>
              </a:rPr>
              <a:t>reaction scaling factor)</a:t>
            </a:r>
            <a:r>
              <a:rPr lang="el">
                <a:solidFill>
                  <a:schemeClr val="dk1"/>
                </a:solidFill>
              </a:rPr>
              <a:t>, which represent different growth conditions. Using these datasets, we </a:t>
            </a:r>
            <a:r>
              <a:rPr b="1" lang="el">
                <a:solidFill>
                  <a:schemeClr val="dk1"/>
                </a:solidFill>
              </a:rPr>
              <a:t>estimate </a:t>
            </a:r>
            <a:r>
              <a:rPr lang="el">
                <a:solidFill>
                  <a:schemeClr val="dk1"/>
                </a:solidFill>
              </a:rPr>
              <a:t>the key </a:t>
            </a:r>
            <a:r>
              <a:rPr b="1" lang="el">
                <a:solidFill>
                  <a:schemeClr val="dk1"/>
                </a:solidFill>
              </a:rPr>
              <a:t>parameters </a:t>
            </a:r>
            <a:r>
              <a:rPr lang="el">
                <a:solidFill>
                  <a:schemeClr val="dk1"/>
                </a:solidFill>
              </a:rPr>
              <a:t>of our </a:t>
            </a:r>
            <a:r>
              <a:rPr b="1" lang="el">
                <a:solidFill>
                  <a:schemeClr val="dk1"/>
                </a:solidFill>
              </a:rPr>
              <a:t>simplified </a:t>
            </a:r>
            <a:r>
              <a:rPr lang="el">
                <a:solidFill>
                  <a:schemeClr val="dk1"/>
                </a:solidFill>
              </a:rPr>
              <a:t>system, mainly the </a:t>
            </a:r>
            <a:r>
              <a:rPr b="1" lang="el">
                <a:solidFill>
                  <a:schemeClr val="dk1"/>
                </a:solidFill>
              </a:rPr>
              <a:t>degradation </a:t>
            </a:r>
            <a:r>
              <a:rPr lang="el">
                <a:solidFill>
                  <a:schemeClr val="dk1"/>
                </a:solidFill>
              </a:rPr>
              <a:t>rate </a:t>
            </a:r>
            <a:r>
              <a:rPr b="1" lang="el">
                <a:solidFill>
                  <a:schemeClr val="dk1"/>
                </a:solidFill>
              </a:rPr>
              <a:t>d</a:t>
            </a:r>
            <a:r>
              <a:rPr lang="el">
                <a:solidFill>
                  <a:schemeClr val="dk1"/>
                </a:solidFill>
              </a:rPr>
              <a:t>, the </a:t>
            </a:r>
            <a:r>
              <a:rPr b="1" lang="el">
                <a:solidFill>
                  <a:schemeClr val="dk1"/>
                </a:solidFill>
              </a:rPr>
              <a:t>energy </a:t>
            </a:r>
            <a:r>
              <a:rPr lang="el">
                <a:solidFill>
                  <a:schemeClr val="dk1"/>
                </a:solidFill>
              </a:rPr>
              <a:t>baseline </a:t>
            </a:r>
            <a:r>
              <a:rPr b="1" lang="el">
                <a:solidFill>
                  <a:schemeClr val="dk1"/>
                </a:solidFill>
              </a:rPr>
              <a:t>phi0</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l">
                <a:solidFill>
                  <a:schemeClr val="dk1"/>
                </a:solidFill>
              </a:rPr>
              <a:t>We simulate the model with a </a:t>
            </a:r>
            <a:r>
              <a:rPr b="1" lang="el">
                <a:solidFill>
                  <a:schemeClr val="dk1"/>
                </a:solidFill>
              </a:rPr>
              <a:t>candidate set </a:t>
            </a:r>
            <a:r>
              <a:rPr lang="el">
                <a:solidFill>
                  <a:schemeClr val="dk1"/>
                </a:solidFill>
              </a:rPr>
              <a:t>of </a:t>
            </a:r>
            <a:r>
              <a:rPr b="1" lang="el">
                <a:solidFill>
                  <a:schemeClr val="dk1"/>
                </a:solidFill>
              </a:rPr>
              <a:t>parameters</a:t>
            </a:r>
            <a:r>
              <a:rPr lang="el">
                <a:solidFill>
                  <a:schemeClr val="dk1"/>
                </a:solidFill>
              </a:rPr>
              <a:t>, we </a:t>
            </a:r>
            <a:r>
              <a:rPr b="1" lang="el">
                <a:solidFill>
                  <a:schemeClr val="dk1"/>
                </a:solidFill>
              </a:rPr>
              <a:t>compare </a:t>
            </a:r>
            <a:r>
              <a:rPr lang="el">
                <a:solidFill>
                  <a:schemeClr val="dk1"/>
                </a:solidFill>
              </a:rPr>
              <a:t>the simulated </a:t>
            </a:r>
            <a:r>
              <a:rPr b="1" lang="el">
                <a:solidFill>
                  <a:schemeClr val="dk1"/>
                </a:solidFill>
              </a:rPr>
              <a:t>PEP </a:t>
            </a:r>
            <a:r>
              <a:rPr lang="el">
                <a:solidFill>
                  <a:schemeClr val="dk1"/>
                </a:solidFill>
              </a:rPr>
              <a:t>and </a:t>
            </a:r>
            <a:r>
              <a:rPr b="1" lang="el">
                <a:solidFill>
                  <a:schemeClr val="dk1"/>
                </a:solidFill>
              </a:rPr>
              <a:t>PYR </a:t>
            </a:r>
            <a:r>
              <a:rPr lang="el">
                <a:solidFill>
                  <a:schemeClr val="dk1"/>
                </a:solidFill>
              </a:rPr>
              <a:t>trajectories to the </a:t>
            </a:r>
            <a:r>
              <a:rPr b="1" lang="el">
                <a:solidFill>
                  <a:schemeClr val="dk1"/>
                </a:solidFill>
              </a:rPr>
              <a:t>experimental curves</a:t>
            </a:r>
            <a:r>
              <a:rPr lang="el">
                <a:solidFill>
                  <a:schemeClr val="dk1"/>
                </a:solidFill>
              </a:rPr>
              <a:t>, and we </a:t>
            </a:r>
            <a:r>
              <a:rPr b="1" lang="el">
                <a:solidFill>
                  <a:schemeClr val="dk1"/>
                </a:solidFill>
              </a:rPr>
              <a:t>adjust </a:t>
            </a:r>
            <a:r>
              <a:rPr lang="el">
                <a:solidFill>
                  <a:schemeClr val="dk1"/>
                </a:solidFill>
              </a:rPr>
              <a:t>the </a:t>
            </a:r>
            <a:r>
              <a:rPr b="1" lang="el">
                <a:solidFill>
                  <a:schemeClr val="dk1"/>
                </a:solidFill>
              </a:rPr>
              <a:t>parameters </a:t>
            </a:r>
            <a:r>
              <a:rPr lang="el">
                <a:solidFill>
                  <a:schemeClr val="dk1"/>
                </a:solidFill>
              </a:rPr>
              <a:t>until the </a:t>
            </a:r>
            <a:r>
              <a:rPr b="1" lang="el">
                <a:solidFill>
                  <a:schemeClr val="dk1"/>
                </a:solidFill>
              </a:rPr>
              <a:t>mismatch </a:t>
            </a:r>
            <a:r>
              <a:rPr lang="el">
                <a:solidFill>
                  <a:schemeClr val="dk1"/>
                </a:solidFill>
              </a:rPr>
              <a:t>is </a:t>
            </a:r>
            <a:r>
              <a:rPr b="1" lang="el">
                <a:solidFill>
                  <a:schemeClr val="dk1"/>
                </a:solidFill>
              </a:rPr>
              <a:t>minimised</a:t>
            </a:r>
            <a:r>
              <a:rPr lang="el">
                <a:solidFill>
                  <a:schemeClr val="dk1"/>
                </a:solidFill>
              </a:rPr>
              <a:t>.</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br>
              <a:rPr lang="el">
                <a:solidFill>
                  <a:schemeClr val="dk1"/>
                </a:solidFill>
              </a:rPr>
            </a:br>
            <a:r>
              <a:rPr lang="el">
                <a:solidFill>
                  <a:schemeClr val="dk1"/>
                </a:solidFill>
              </a:rPr>
              <a:t> Once we have reliable parameters, we can </a:t>
            </a:r>
            <a:r>
              <a:rPr b="1" lang="el">
                <a:solidFill>
                  <a:schemeClr val="dk1"/>
                </a:solidFill>
              </a:rPr>
              <a:t>confidently use the model </a:t>
            </a:r>
            <a:r>
              <a:rPr lang="el">
                <a:solidFill>
                  <a:schemeClr val="dk1"/>
                </a:solidFill>
              </a:rPr>
              <a:t>to explore when </a:t>
            </a:r>
            <a:r>
              <a:rPr b="1" lang="el">
                <a:solidFill>
                  <a:schemeClr val="dk1"/>
                </a:solidFill>
              </a:rPr>
              <a:t>cells </a:t>
            </a:r>
            <a:r>
              <a:rPr lang="el">
                <a:solidFill>
                  <a:schemeClr val="dk1"/>
                </a:solidFill>
              </a:rPr>
              <a:t>remain </a:t>
            </a:r>
            <a:r>
              <a:rPr b="1" lang="el">
                <a:solidFill>
                  <a:schemeClr val="dk1"/>
                </a:solidFill>
              </a:rPr>
              <a:t>dormant </a:t>
            </a:r>
            <a:r>
              <a:rPr lang="el">
                <a:solidFill>
                  <a:schemeClr val="dk1"/>
                </a:solidFill>
              </a:rPr>
              <a:t>and when they start </a:t>
            </a:r>
            <a:r>
              <a:rPr b="1" lang="el">
                <a:solidFill>
                  <a:schemeClr val="dk1"/>
                </a:solidFill>
              </a:rPr>
              <a:t>growing</a:t>
            </a:r>
            <a:r>
              <a:rPr lang="el">
                <a:solidFill>
                  <a:schemeClr val="dk1"/>
                </a:solidFill>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af05ab738b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af05ab738b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l">
                <a:solidFill>
                  <a:schemeClr val="dk1"/>
                </a:solidFill>
              </a:rPr>
              <a:t>Our simplified 2-equation model lets us explore </a:t>
            </a:r>
            <a:r>
              <a:rPr b="1" lang="el">
                <a:solidFill>
                  <a:schemeClr val="dk1"/>
                </a:solidFill>
              </a:rPr>
              <a:t>when cells </a:t>
            </a:r>
            <a:r>
              <a:rPr lang="el">
                <a:solidFill>
                  <a:schemeClr val="dk1"/>
                </a:solidFill>
              </a:rPr>
              <a:t>stay </a:t>
            </a:r>
            <a:r>
              <a:rPr b="1" lang="el">
                <a:solidFill>
                  <a:schemeClr val="dk1"/>
                </a:solidFill>
              </a:rPr>
              <a:t>dormant </a:t>
            </a:r>
            <a:r>
              <a:rPr lang="el">
                <a:solidFill>
                  <a:schemeClr val="dk1"/>
                </a:solidFill>
              </a:rPr>
              <a:t>or switch to </a:t>
            </a:r>
            <a:r>
              <a:rPr b="1" lang="el">
                <a:solidFill>
                  <a:schemeClr val="dk1"/>
                </a:solidFill>
              </a:rPr>
              <a:t>growth</a:t>
            </a:r>
            <a:r>
              <a:rPr lang="el">
                <a:solidFill>
                  <a:schemeClr val="dk1"/>
                </a:solidFill>
              </a:rPr>
              <a: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l">
                <a:solidFill>
                  <a:schemeClr val="dk1"/>
                </a:solidFill>
              </a:rPr>
              <a:t>The key idea is that </a:t>
            </a:r>
            <a:r>
              <a:rPr b="1" lang="el">
                <a:solidFill>
                  <a:schemeClr val="dk1"/>
                </a:solidFill>
              </a:rPr>
              <a:t>PEP </a:t>
            </a:r>
            <a:r>
              <a:rPr lang="el">
                <a:solidFill>
                  <a:schemeClr val="dk1"/>
                </a:solidFill>
              </a:rPr>
              <a:t>acts as a </a:t>
            </a:r>
            <a:r>
              <a:rPr b="1" lang="el">
                <a:solidFill>
                  <a:schemeClr val="dk1"/>
                </a:solidFill>
              </a:rPr>
              <a:t>proxy </a:t>
            </a:r>
            <a:r>
              <a:rPr lang="el">
                <a:solidFill>
                  <a:schemeClr val="dk1"/>
                </a:solidFill>
              </a:rPr>
              <a:t>for </a:t>
            </a:r>
            <a:r>
              <a:rPr b="1" lang="el">
                <a:solidFill>
                  <a:schemeClr val="dk1"/>
                </a:solidFill>
              </a:rPr>
              <a:t>growth</a:t>
            </a:r>
            <a:r>
              <a:rPr lang="el">
                <a:solidFill>
                  <a:schemeClr val="dk1"/>
                </a:solidFill>
              </a:rPr>
              <a:t>: </a:t>
            </a:r>
            <a:r>
              <a:rPr b="1" lang="el">
                <a:solidFill>
                  <a:schemeClr val="dk1"/>
                </a:solidFill>
              </a:rPr>
              <a:t>low PEP </a:t>
            </a:r>
            <a:r>
              <a:rPr lang="el">
                <a:solidFill>
                  <a:schemeClr val="dk1"/>
                </a:solidFill>
              </a:rPr>
              <a:t>corresponds to </a:t>
            </a:r>
            <a:r>
              <a:rPr b="1" lang="el">
                <a:solidFill>
                  <a:schemeClr val="dk1"/>
                </a:solidFill>
              </a:rPr>
              <a:t>dormancy</a:t>
            </a:r>
            <a:r>
              <a:rPr lang="el">
                <a:solidFill>
                  <a:schemeClr val="dk1"/>
                </a:solidFill>
              </a:rPr>
              <a:t>, while </a:t>
            </a:r>
            <a:r>
              <a:rPr b="1" lang="el">
                <a:solidFill>
                  <a:schemeClr val="dk1"/>
                </a:solidFill>
              </a:rPr>
              <a:t>rising PEP </a:t>
            </a:r>
            <a:r>
              <a:rPr lang="el">
                <a:solidFill>
                  <a:schemeClr val="dk1"/>
                </a:solidFill>
              </a:rPr>
              <a:t>indicates </a:t>
            </a:r>
            <a:r>
              <a:rPr b="1" lang="el">
                <a:solidFill>
                  <a:schemeClr val="dk1"/>
                </a:solidFill>
              </a:rPr>
              <a:t>growth </a:t>
            </a:r>
            <a:r>
              <a:rPr lang="el">
                <a:solidFill>
                  <a:schemeClr val="dk1"/>
                </a:solidFill>
              </a:rPr>
              <a:t>initiation.</a:t>
            </a:r>
            <a:endParaRPr>
              <a:solidFill>
                <a:schemeClr val="dk1"/>
              </a:solidFill>
            </a:endParaRPr>
          </a:p>
          <a:p>
            <a:pPr indent="0" lvl="0" marL="0" rtl="0" algn="l">
              <a:lnSpc>
                <a:spcPct val="115000"/>
              </a:lnSpc>
              <a:spcBef>
                <a:spcPts val="0"/>
              </a:spcBef>
              <a:spcAft>
                <a:spcPts val="0"/>
              </a:spcAft>
              <a:buNone/>
            </a:pPr>
            <a:r>
              <a:rPr lang="el">
                <a:solidFill>
                  <a:schemeClr val="dk1"/>
                </a:solidFill>
              </a:rPr>
              <a:t>By analysing the interactions between PEP and PYR under different energy conditions, the model </a:t>
            </a:r>
            <a:r>
              <a:rPr b="1" lang="el">
                <a:solidFill>
                  <a:schemeClr val="dk1"/>
                </a:solidFill>
              </a:rPr>
              <a:t>allows </a:t>
            </a:r>
            <a:r>
              <a:rPr lang="el">
                <a:solidFill>
                  <a:schemeClr val="dk1"/>
                </a:solidFill>
              </a:rPr>
              <a:t>us to </a:t>
            </a:r>
            <a:r>
              <a:rPr b="1" lang="el">
                <a:solidFill>
                  <a:schemeClr val="dk1"/>
                </a:solidFill>
              </a:rPr>
              <a:t>predict </a:t>
            </a:r>
            <a:r>
              <a:rPr lang="el">
                <a:solidFill>
                  <a:schemeClr val="dk1"/>
                </a:solidFill>
              </a:rPr>
              <a:t>the </a:t>
            </a:r>
            <a:r>
              <a:rPr b="1" lang="el">
                <a:solidFill>
                  <a:schemeClr val="dk1"/>
                </a:solidFill>
              </a:rPr>
              <a:t>boundary between these </a:t>
            </a:r>
            <a:r>
              <a:rPr lang="el">
                <a:solidFill>
                  <a:schemeClr val="dk1"/>
                </a:solidFill>
              </a:rPr>
              <a:t>two </a:t>
            </a:r>
            <a:r>
              <a:rPr b="1" lang="el">
                <a:solidFill>
                  <a:schemeClr val="dk1"/>
                </a:solidFill>
              </a:rPr>
              <a:t>states</a:t>
            </a:r>
            <a:r>
              <a:rPr lang="el">
                <a:solidFill>
                  <a:schemeClr val="dk1"/>
                </a:solidFill>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af05ab738b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af05ab738b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l">
                <a:solidFill>
                  <a:schemeClr val="dk1"/>
                </a:solidFill>
              </a:rPr>
              <a:t>A key question in this project is whether </a:t>
            </a:r>
            <a:r>
              <a:rPr b="1" lang="el">
                <a:solidFill>
                  <a:schemeClr val="dk1"/>
                </a:solidFill>
              </a:rPr>
              <a:t>a minimal PEP–PYR model</a:t>
            </a:r>
            <a:r>
              <a:rPr lang="el">
                <a:solidFill>
                  <a:schemeClr val="dk1"/>
                </a:solidFill>
              </a:rPr>
              <a:t> can </a:t>
            </a:r>
            <a:r>
              <a:rPr b="1" lang="el">
                <a:solidFill>
                  <a:schemeClr val="dk1"/>
                </a:solidFill>
              </a:rPr>
              <a:t>capture </a:t>
            </a:r>
            <a:r>
              <a:rPr lang="el">
                <a:solidFill>
                  <a:schemeClr val="dk1"/>
                </a:solidFill>
              </a:rPr>
              <a:t>an essential </a:t>
            </a:r>
            <a:r>
              <a:rPr b="1" lang="el">
                <a:solidFill>
                  <a:schemeClr val="dk1"/>
                </a:solidFill>
              </a:rPr>
              <a:t>biological behaviour</a:t>
            </a:r>
            <a:r>
              <a:rPr lang="el">
                <a:solidFill>
                  <a:schemeClr val="dk1"/>
                </a:solidFill>
              </a:rPr>
              <a:t>: the ability of dormant cells to ‘</a:t>
            </a:r>
            <a:r>
              <a:rPr b="1" lang="el">
                <a:solidFill>
                  <a:schemeClr val="dk1"/>
                </a:solidFill>
              </a:rPr>
              <a:t>wake</a:t>
            </a:r>
            <a:r>
              <a:rPr lang="el">
                <a:solidFill>
                  <a:schemeClr val="dk1"/>
                </a:solidFill>
              </a:rPr>
              <a:t> </a:t>
            </a:r>
            <a:r>
              <a:rPr b="1" lang="el">
                <a:solidFill>
                  <a:schemeClr val="dk1"/>
                </a:solidFill>
              </a:rPr>
              <a:t>up</a:t>
            </a:r>
            <a:r>
              <a:rPr lang="el">
                <a:solidFill>
                  <a:schemeClr val="dk1"/>
                </a:solidFill>
              </a:rPr>
              <a:t>’ even when </a:t>
            </a:r>
            <a:r>
              <a:rPr b="1" lang="el">
                <a:solidFill>
                  <a:schemeClr val="dk1"/>
                </a:solidFill>
              </a:rPr>
              <a:t>energy levels </a:t>
            </a:r>
            <a:r>
              <a:rPr lang="el">
                <a:solidFill>
                  <a:schemeClr val="dk1"/>
                </a:solidFill>
              </a:rPr>
              <a:t>are </a:t>
            </a:r>
            <a:r>
              <a:rPr b="1" lang="el">
                <a:solidFill>
                  <a:schemeClr val="dk1"/>
                </a:solidFill>
              </a:rPr>
              <a:t>low</a:t>
            </a:r>
            <a:r>
              <a:rPr lang="el">
                <a:solidFill>
                  <a:schemeClr val="dk1"/>
                </a:solidFill>
              </a:rPr>
              <a: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l">
                <a:solidFill>
                  <a:schemeClr val="dk1"/>
                </a:solidFill>
              </a:rPr>
              <a:t>With this simplified system, we can test whether the</a:t>
            </a:r>
            <a:r>
              <a:rPr b="1" lang="el">
                <a:solidFill>
                  <a:schemeClr val="dk1"/>
                </a:solidFill>
              </a:rPr>
              <a:t> built-in feedbacks</a:t>
            </a:r>
            <a:r>
              <a:rPr lang="el">
                <a:solidFill>
                  <a:schemeClr val="dk1"/>
                </a:solidFill>
              </a:rPr>
              <a:t> are </a:t>
            </a:r>
            <a:r>
              <a:rPr b="1" lang="el">
                <a:solidFill>
                  <a:schemeClr val="dk1"/>
                </a:solidFill>
              </a:rPr>
              <a:t>enough </a:t>
            </a:r>
            <a:r>
              <a:rPr lang="el">
                <a:solidFill>
                  <a:schemeClr val="dk1"/>
                </a:solidFill>
              </a:rPr>
              <a:t>to </a:t>
            </a:r>
            <a:r>
              <a:rPr b="1" lang="el">
                <a:solidFill>
                  <a:schemeClr val="dk1"/>
                </a:solidFill>
              </a:rPr>
              <a:t>trigger </a:t>
            </a:r>
            <a:r>
              <a:rPr lang="el">
                <a:solidFill>
                  <a:schemeClr val="dk1"/>
                </a:solidFill>
              </a:rPr>
              <a:t>a </a:t>
            </a:r>
            <a:r>
              <a:rPr b="1" lang="el">
                <a:solidFill>
                  <a:schemeClr val="dk1"/>
                </a:solidFill>
              </a:rPr>
              <a:t>rise </a:t>
            </a:r>
            <a:r>
              <a:rPr lang="el">
                <a:solidFill>
                  <a:schemeClr val="dk1"/>
                </a:solidFill>
              </a:rPr>
              <a:t>in </a:t>
            </a:r>
            <a:r>
              <a:rPr b="1" lang="el">
                <a:solidFill>
                  <a:schemeClr val="dk1"/>
                </a:solidFill>
              </a:rPr>
              <a:t>PEP </a:t>
            </a:r>
            <a:r>
              <a:rPr lang="el">
                <a:solidFill>
                  <a:schemeClr val="dk1"/>
                </a:solidFill>
              </a:rPr>
              <a:t>or whether the model </a:t>
            </a:r>
            <a:r>
              <a:rPr b="1" lang="el">
                <a:solidFill>
                  <a:schemeClr val="dk1"/>
                </a:solidFill>
              </a:rPr>
              <a:t>gets stuck </a:t>
            </a:r>
            <a:r>
              <a:rPr lang="el">
                <a:solidFill>
                  <a:schemeClr val="dk1"/>
                </a:solidFill>
              </a:rPr>
              <a:t>in a </a:t>
            </a:r>
            <a:r>
              <a:rPr b="1" lang="el">
                <a:solidFill>
                  <a:schemeClr val="dk1"/>
                </a:solidFill>
              </a:rPr>
              <a:t>dormant state</a:t>
            </a:r>
            <a:r>
              <a:rPr lang="el">
                <a:solidFill>
                  <a:schemeClr val="dk1"/>
                </a:solidFill>
              </a:rPr>
              <a: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l">
                <a:solidFill>
                  <a:schemeClr val="dk1"/>
                </a:solidFill>
              </a:rPr>
              <a:t>If the </a:t>
            </a:r>
            <a:r>
              <a:rPr b="1" lang="el">
                <a:solidFill>
                  <a:schemeClr val="dk1"/>
                </a:solidFill>
              </a:rPr>
              <a:t>basic structure cannot produce recovery</a:t>
            </a:r>
            <a:r>
              <a:rPr lang="el">
                <a:solidFill>
                  <a:schemeClr val="dk1"/>
                </a:solidFill>
              </a:rPr>
              <a:t>, we can then </a:t>
            </a:r>
            <a:r>
              <a:rPr b="1" lang="el">
                <a:solidFill>
                  <a:schemeClr val="dk1"/>
                </a:solidFill>
              </a:rPr>
              <a:t>explore </a:t>
            </a:r>
            <a:r>
              <a:rPr lang="el">
                <a:solidFill>
                  <a:schemeClr val="dk1"/>
                </a:solidFill>
              </a:rPr>
              <a:t>the </a:t>
            </a:r>
            <a:r>
              <a:rPr b="1" lang="el">
                <a:solidFill>
                  <a:schemeClr val="dk1"/>
                </a:solidFill>
              </a:rPr>
              <a:t>smallest </a:t>
            </a:r>
            <a:r>
              <a:rPr lang="el">
                <a:solidFill>
                  <a:schemeClr val="dk1"/>
                </a:solidFill>
              </a:rPr>
              <a:t>possible </a:t>
            </a:r>
            <a:r>
              <a:rPr b="1" lang="el">
                <a:solidFill>
                  <a:schemeClr val="dk1"/>
                </a:solidFill>
              </a:rPr>
              <a:t>changes</a:t>
            </a:r>
            <a:r>
              <a:rPr lang="el">
                <a:solidFill>
                  <a:schemeClr val="dk1"/>
                </a:solidFill>
              </a:rPr>
              <a:t>, like adding a </a:t>
            </a:r>
            <a:r>
              <a:rPr b="1" lang="el">
                <a:solidFill>
                  <a:schemeClr val="dk1"/>
                </a:solidFill>
              </a:rPr>
              <a:t>weak positive feedback </a:t>
            </a:r>
            <a:r>
              <a:rPr lang="el">
                <a:solidFill>
                  <a:schemeClr val="dk1"/>
                </a:solidFill>
              </a:rPr>
              <a:t>or </a:t>
            </a:r>
            <a:r>
              <a:rPr b="1" lang="el">
                <a:solidFill>
                  <a:schemeClr val="dk1"/>
                </a:solidFill>
              </a:rPr>
              <a:t>modifying </a:t>
            </a:r>
            <a:r>
              <a:rPr lang="el">
                <a:solidFill>
                  <a:schemeClr val="dk1"/>
                </a:solidFill>
              </a:rPr>
              <a:t>how energy is </a:t>
            </a:r>
            <a:r>
              <a:rPr b="1" lang="el">
                <a:solidFill>
                  <a:schemeClr val="dk1"/>
                </a:solidFill>
              </a:rPr>
              <a:t>represented</a:t>
            </a:r>
            <a:r>
              <a:rPr lang="el">
                <a:solidFill>
                  <a:schemeClr val="dk1"/>
                </a:solidFill>
              </a:rPr>
              <a:t>, to see what </a:t>
            </a:r>
            <a:r>
              <a:rPr b="1" lang="el">
                <a:solidFill>
                  <a:schemeClr val="dk1"/>
                </a:solidFill>
              </a:rPr>
              <a:t>mechanisms </a:t>
            </a:r>
            <a:r>
              <a:rPr lang="el">
                <a:solidFill>
                  <a:schemeClr val="dk1"/>
                </a:solidFill>
              </a:rPr>
              <a:t>might </a:t>
            </a:r>
            <a:r>
              <a:rPr b="1" lang="el">
                <a:solidFill>
                  <a:schemeClr val="dk1"/>
                </a:solidFill>
              </a:rPr>
              <a:t>enable </a:t>
            </a:r>
            <a:r>
              <a:rPr lang="el">
                <a:solidFill>
                  <a:schemeClr val="dk1"/>
                </a:solidFill>
              </a:rPr>
              <a:t>a </a:t>
            </a:r>
            <a:r>
              <a:rPr b="1" lang="el">
                <a:solidFill>
                  <a:schemeClr val="dk1"/>
                </a:solidFill>
              </a:rPr>
              <a:t>transition </a:t>
            </a:r>
            <a:r>
              <a:rPr lang="el">
                <a:solidFill>
                  <a:schemeClr val="dk1"/>
                </a:solidFill>
              </a:rPr>
              <a:t>back to </a:t>
            </a:r>
            <a:r>
              <a:rPr b="1" lang="el">
                <a:solidFill>
                  <a:schemeClr val="dk1"/>
                </a:solidFill>
              </a:rPr>
              <a:t>growth</a:t>
            </a:r>
            <a:r>
              <a:rPr lang="el">
                <a:solidFill>
                  <a:schemeClr val="dk1"/>
                </a:solidFill>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af05ab738b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af05ab738b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l">
                <a:solidFill>
                  <a:schemeClr val="dk1"/>
                </a:solidFill>
              </a:rPr>
              <a:t>Based on the provided reactions in the project description, we created the model presented here. Important to mention is that the amount of glucose fed to the cells is fixed at 1 microMole. Therefore, we assume the change in glucose to be zero in the further analyses.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l">
                <a:solidFill>
                  <a:schemeClr val="dk1"/>
                </a:solidFill>
              </a:rPr>
              <a:t>Furthermore: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l">
                <a:solidFill>
                  <a:schemeClr val="dk1"/>
                </a:solidFill>
              </a:rPr>
              <a:t>r =     scaling factor related to the growth rate of </a:t>
            </a:r>
            <a:r>
              <a:rPr i="1" lang="el">
                <a:solidFill>
                  <a:schemeClr val="dk1"/>
                </a:solidFill>
              </a:rPr>
              <a:t>E. coli</a:t>
            </a:r>
            <a:r>
              <a:rPr lang="el">
                <a:solidFill>
                  <a:schemeClr val="dk1"/>
                </a:solidFill>
              </a:rPr>
              <a:t> cells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l">
                <a:solidFill>
                  <a:schemeClr val="dk1"/>
                </a:solidFill>
              </a:rPr>
              <a:t>d =    metabolite degradation rate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l">
                <a:solidFill>
                  <a:schemeClr val="dk1"/>
                </a:solidFill>
              </a:rPr>
              <a:t>phi = parameter that corresponds to the energy status of the cells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l">
                <a:solidFill>
                  <a:schemeClr val="dk1"/>
                </a:solidFill>
              </a:rPr>
              <a:t>This phi is related to the amount of PYR available, and phi0, so the total amount of ATP/ADP available.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l">
                <a:solidFill>
                  <a:schemeClr val="dk1"/>
                </a:solidFill>
              </a:rPr>
              <a:t>PEP concentration is considered a proxy for cell growth rates, so when PEP is present, the cell will grow.</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f41ca58e9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f41ca58e9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l">
                <a:solidFill>
                  <a:schemeClr val="dk1"/>
                </a:solidFill>
              </a:rPr>
              <a:t>This is the data we had. You can see the PEP and PYR concentrations (in microMole) over time, in which time is expressed in hours and it ranges from 0 to 10 hours.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f05ab738b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af05ab738b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l">
                <a:solidFill>
                  <a:schemeClr val="dk1"/>
                </a:solidFill>
              </a:rPr>
              <a:t>We used the model, the provided data, and a scoring function to estimate the parameters. This scoring function was a slightly adjusted version of the one we used in the practical in Week 5. To be clear, the parameters we have estimated are: 1 the initial condition of OAA, 2 degradation rate </a:t>
            </a:r>
            <a:r>
              <a:rPr i="1" lang="el">
                <a:solidFill>
                  <a:schemeClr val="dk1"/>
                </a:solidFill>
              </a:rPr>
              <a:t>d</a:t>
            </a:r>
            <a:r>
              <a:rPr lang="el">
                <a:solidFill>
                  <a:schemeClr val="dk1"/>
                </a:solidFill>
              </a:rPr>
              <a:t>, and 3 phi0.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l">
                <a:solidFill>
                  <a:schemeClr val="dk1"/>
                </a:solidFill>
              </a:rPr>
              <a:t>We used Latin Hypercube Sampling to get values for the parameters predefined bounds, and consequently created 2,000 parameter sets. We calculated the scores and selected the lowest scoring parameter set. After this, we created a narrower search grid around these values and did and, again, picked the lowest scoring parameter set. In other words, the parameters that best fit the data.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f05ab738b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af05ab738b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l">
                <a:solidFill>
                  <a:schemeClr val="dk1"/>
                </a:solidFill>
              </a:rPr>
              <a:t>Using these parameters we simulated the model and got these results.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f05ab738b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f05ab738b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l">
                <a:solidFill>
                  <a:schemeClr val="dk1"/>
                </a:solidFill>
              </a:rPr>
              <a:t>Now we have the parameter values, we have to simplify the model to two equations. I already mentioned that we assume the change in glucose to be 0.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f05ab738b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af05ab738b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l">
                <a:solidFill>
                  <a:schemeClr val="dk1"/>
                </a:solidFill>
              </a:rPr>
              <a:t>We also make another assumption to get rid of the ODE for OAA, which is a quasi-steady-state assumption for OAA. Thus, this only applies if the timescale at which OAA changes is much faster than the changes in PEP and PYR.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f05ab738b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af05ab738b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l">
                <a:solidFill>
                  <a:schemeClr val="dk1"/>
                </a:solidFill>
              </a:rPr>
              <a:t>Now we have the simplified model, we looked at the phase plane of the model. As you can see, the behaviour of the system is different for the different </a:t>
            </a:r>
            <a:r>
              <a:rPr i="1" lang="el">
                <a:solidFill>
                  <a:schemeClr val="dk1"/>
                </a:solidFill>
              </a:rPr>
              <a:t>r</a:t>
            </a:r>
            <a:r>
              <a:rPr lang="el">
                <a:solidFill>
                  <a:schemeClr val="dk1"/>
                </a:solidFill>
              </a:rPr>
              <a:t> values. This is because the eigenvalues change based on this parameter.</a:t>
            </a:r>
            <a:endParaRPr>
              <a:solidFill>
                <a:schemeClr val="dk1"/>
              </a:solidFill>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l">
                <a:solidFill>
                  <a:schemeClr val="dk1"/>
                </a:solidFill>
              </a:rPr>
              <a:t>We can see that, for r = 0.01 and 0.1, there is only 1 stable steady state, so an attractor.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l">
                <a:solidFill>
                  <a:schemeClr val="dk1"/>
                </a:solidFill>
              </a:rPr>
              <a:t>However, for r = 1, the stable steady state turned into an unstable steady state, a saddle point. </a:t>
            </a:r>
            <a:r>
              <a:rPr lang="el">
                <a:solidFill>
                  <a:srgbClr val="3F3F3F"/>
                </a:solidFill>
                <a:highlight>
                  <a:srgbClr val="FFFF00"/>
                </a:highlight>
              </a:rPr>
              <a:t>Now, if either PEP or PYR is present, or both, the PEP and PYR values keep increasing. This is what we assumed to be a growing state instead of the dormant state for r = 0.1 and 0.01.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f05ab738b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af05ab738b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l">
                <a:solidFill>
                  <a:schemeClr val="dk1"/>
                </a:solidFill>
              </a:rPr>
              <a:t>we first simulated the model at a low ATP/ADP baseline (φ₀ = 0.05) using four distinct initial metabolite states representing dormant, moderate, and perturbed metabolic conditions.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l">
                <a:solidFill>
                  <a:schemeClr val="dk1"/>
                </a:solidFill>
              </a:rPr>
              <a:t>Go to next slide and explain that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l">
                <a:solidFill>
                  <a:schemeClr val="dk1"/>
                </a:solidFill>
              </a:rPr>
              <a:t>The resulting trajectories showed that all simulations, regardless of how much PEP or PYR was present initially, converged to the same extremely low PEP steady state. Some conditions displayed a brief transient increase in PEP, but all ultimately collapsed to a shared equilibrium close to zero. This behaviour indicates that the model contains only a single globally stable attractor under low-energy conditions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af41ca58e9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af41ca58e9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l">
                <a:solidFill>
                  <a:schemeClr val="dk1"/>
                </a:solidFill>
              </a:rPr>
              <a:t>Why michaelis -menten </a:t>
            </a:r>
            <a:endParaRPr>
              <a:solidFill>
                <a:schemeClr val="dk1"/>
              </a:solidFill>
            </a:endParaRPr>
          </a:p>
          <a:p>
            <a:pPr indent="0" lvl="0" marL="0" rtl="0" algn="l">
              <a:spcBef>
                <a:spcPts val="0"/>
              </a:spcBef>
              <a:spcAft>
                <a:spcPts val="0"/>
              </a:spcAft>
              <a:buClr>
                <a:schemeClr val="dk1"/>
              </a:buClr>
              <a:buSzPts val="1100"/>
              <a:buFont typeface="Arial"/>
              <a:buNone/>
            </a:pPr>
            <a:r>
              <a:rPr lang="el" sz="1200">
                <a:solidFill>
                  <a:srgbClr val="3F3F3F"/>
                </a:solidFill>
                <a:latin typeface="Calibri"/>
                <a:ea typeface="Calibri"/>
                <a:cs typeface="Calibri"/>
                <a:sym typeface="Calibri"/>
              </a:rPr>
              <a:t>We adopted a Michaelis–Menten–type expression because, mathematically, it</a:t>
            </a:r>
            <a:endParaRPr sz="1200">
              <a:solidFill>
                <a:srgbClr val="3F3F3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l" sz="1200">
                <a:solidFill>
                  <a:srgbClr val="3F3F3F"/>
                </a:solidFill>
                <a:latin typeface="Calibri"/>
                <a:ea typeface="Calibri"/>
                <a:cs typeface="Calibri"/>
                <a:sym typeface="Calibri"/>
              </a:rPr>
              <a:t>responds smoothly to small changes in PEP while preventing unrealistically sharp</a:t>
            </a:r>
            <a:endParaRPr sz="1200">
              <a:solidFill>
                <a:srgbClr val="3F3F3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l" sz="1200">
                <a:solidFill>
                  <a:srgbClr val="3F3F3F"/>
                </a:solidFill>
                <a:latin typeface="Calibri"/>
                <a:ea typeface="Calibri"/>
                <a:cs typeface="Calibri"/>
                <a:sym typeface="Calibri"/>
              </a:rPr>
              <a:t>increases in φ and </a:t>
            </a:r>
            <a:r>
              <a:rPr lang="el" sz="1200">
                <a:solidFill>
                  <a:schemeClr val="dk1"/>
                </a:solidFill>
              </a:rPr>
              <a:t>provides parameters (α and K) which are needed to test whether metabolic feedback can produce bistability</a:t>
            </a:r>
            <a:r>
              <a:rPr lang="el" sz="1200">
                <a:solidFill>
                  <a:srgbClr val="3F3F3F"/>
                </a:solidFill>
                <a:latin typeface="Calibri"/>
                <a:ea typeface="Calibri"/>
                <a:cs typeface="Calibri"/>
                <a:sym typeface="Calibri"/>
              </a:rPr>
              <a:t>. A simple linear function would cause φ to rise too quickly with PEP,</a:t>
            </a:r>
            <a:endParaRPr sz="1200">
              <a:solidFill>
                <a:srgbClr val="3F3F3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l" sz="1200">
                <a:solidFill>
                  <a:srgbClr val="3F3F3F"/>
                </a:solidFill>
                <a:latin typeface="Calibri"/>
                <a:ea typeface="Calibri"/>
                <a:cs typeface="Calibri"/>
                <a:sym typeface="Calibri"/>
              </a:rPr>
              <a:t>which is not biologically plausible. To examine whether a switch out of dormancy could</a:t>
            </a:r>
            <a:endParaRPr sz="1200">
              <a:solidFill>
                <a:srgbClr val="3F3F3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l" sz="1200">
                <a:solidFill>
                  <a:srgbClr val="3F3F3F"/>
                </a:solidFill>
                <a:latin typeface="Calibri"/>
                <a:ea typeface="Calibri"/>
                <a:cs typeface="Calibri"/>
                <a:sym typeface="Calibri"/>
              </a:rPr>
              <a:t>occur at low energy availability, we therefore introduced the modified feedback form</a:t>
            </a:r>
            <a:endParaRPr sz="1200">
              <a:solidFill>
                <a:srgbClr val="3F3F3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l" sz="1200">
                <a:solidFill>
                  <a:srgbClr val="3F3F3F"/>
                </a:solidFill>
                <a:latin typeface="Calibri"/>
                <a:ea typeface="Calibri"/>
                <a:cs typeface="Calibri"/>
                <a:sym typeface="Calibri"/>
              </a:rPr>
              <a:t>Showing the equation we are gonna explain it.</a:t>
            </a:r>
            <a:endParaRPr sz="1200">
              <a:solidFill>
                <a:srgbClr val="3F3F3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rgbClr val="3F3F3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l" sz="1200">
                <a:solidFill>
                  <a:srgbClr val="3F3F3F"/>
                </a:solidFill>
                <a:latin typeface="Calibri"/>
                <a:ea typeface="Calibri"/>
                <a:cs typeface="Calibri"/>
                <a:sym typeface="Calibri"/>
              </a:rPr>
              <a:t>Here α determines how strongly PEP improves the energy status, while K defines the</a:t>
            </a:r>
            <a:endParaRPr sz="1200">
              <a:solidFill>
                <a:srgbClr val="3F3F3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l" sz="1200">
                <a:solidFill>
                  <a:srgbClr val="3F3F3F"/>
                </a:solidFill>
                <a:latin typeface="Calibri"/>
                <a:ea typeface="Calibri"/>
                <a:cs typeface="Calibri"/>
                <a:sym typeface="Calibri"/>
              </a:rPr>
              <a:t>PEP concentration required for half-maximal enhancement.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7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7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l">
                <a:solidFill>
                  <a:schemeClr val="dk1"/>
                </a:solidFill>
              </a:rPr>
              <a:t>Simulations were carried out from both a deeply dormant state and a “kicked” state with elevated initial PEP. Contrary to expectation, both trajectories decayed to the same low-PEP equilibrium, and no separation between dormant and activated outcomes was observed. This demonstrates that the chosen feedback parameters (α = 0.8, K = 0.5) were too weak to produce bistability, as φ(P) increased only minimally and was insufficient to overcome the low φ₀ baseline.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l">
                <a:solidFill>
                  <a:schemeClr val="dk1"/>
                </a:solidFill>
              </a:rPr>
              <a:t>Therefore, even with feedback, the simplified model remains monostable and does not permit wake-up from dormancy.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f41ca58e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af41ca58e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af41ca58e9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af41ca58e9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l">
                <a:solidFill>
                  <a:schemeClr val="dk1"/>
                </a:solidFill>
              </a:rPr>
              <a:t>We tested 2,000 parameter sets and selected the best-scoring one, but this optimisation may have landed on a local rather than a global optimum. Other untested combinations might fit the data better. This is important because the simplified model is sensitive to parameter choice, so downstream results should be interpreted with this limitation in mind.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l">
                <a:solidFill>
                  <a:schemeClr val="dk1"/>
                </a:solidFill>
              </a:rPr>
              <a:t>We need to check for a wide range of parameters.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af62f5a190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af62f5a190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l">
                <a:solidFill>
                  <a:schemeClr val="dk1"/>
                </a:solidFill>
              </a:rPr>
              <a:t>The three glucose uptake levels (r = 1, 0.1, 0.01) show that the system changes a lot depending on how much nutrient is available. Increasing the scaling factor r improved the model’s behaviour at low energy, showing that cells cannot escape dormancy without sufficient nutrient influx. This supports the idea that </a:t>
            </a:r>
            <a:r>
              <a:rPr i="1" lang="el">
                <a:solidFill>
                  <a:schemeClr val="dk1"/>
                </a:solidFill>
              </a:rPr>
              <a:t>E. coli</a:t>
            </a:r>
            <a:r>
              <a:rPr lang="el">
                <a:solidFill>
                  <a:schemeClr val="dk1"/>
                </a:solidFill>
              </a:rPr>
              <a:t> must first rebuild ATP and restart central metabolism before transitioning from lag phase to exponential growth, with higher r values better capturing this behaviour.</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af62f5a190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af62f5a190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l">
                <a:solidFill>
                  <a:schemeClr val="dk1"/>
                </a:solidFill>
              </a:rPr>
              <a:t>We also studied how the system behaves at low energy levels. In theory, cells can either stay dormant or switch into growth, but our simplified model showed only one outcome: all initial conditions collapsed into the same low-PEP dormant state. Even after adding feedback through α and K, we still found no evidence of bistability.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l">
                <a:solidFill>
                  <a:schemeClr val="dk1"/>
                </a:solidFill>
              </a:rPr>
              <a:t>This agrees with real </a:t>
            </a:r>
            <a:r>
              <a:rPr i="1" lang="el">
                <a:solidFill>
                  <a:schemeClr val="dk1"/>
                </a:solidFill>
              </a:rPr>
              <a:t>E. coli</a:t>
            </a:r>
            <a:r>
              <a:rPr lang="el">
                <a:solidFill>
                  <a:schemeClr val="dk1"/>
                </a:solidFill>
              </a:rPr>
              <a:t>, which often enters a low-metabolism dormant state under stress and becomes more tolerant to antibiotics. Our results show that the 2-equation model is monostable and cannot reproduce wake-up behaviour. To achieve this, we would likely need to reintroduce additional metabolites, such as OAA, or include more complex regulatory loops from the full Himeoka &amp; Mitarai model</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af05ab738b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af05ab738b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4" name="Shape 14"/>
        <p:cNvGrpSpPr/>
        <p:nvPr/>
      </p:nvGrpSpPr>
      <p:grpSpPr>
        <a:xfrm>
          <a:off x="0" y="0"/>
          <a:ext cx="0" cy="0"/>
          <a:chOff x="0" y="0"/>
          <a:chExt cx="0" cy="0"/>
        </a:xfrm>
      </p:grpSpPr>
      <p:sp>
        <p:nvSpPr>
          <p:cNvPr id="15" name="Google Shape;15;p2"/>
          <p:cNvSpPr/>
          <p:nvPr/>
        </p:nvSpPr>
        <p:spPr>
          <a:xfrm>
            <a:off x="2381" y="4800600"/>
            <a:ext cx="9141600" cy="342900"/>
          </a:xfrm>
          <a:prstGeom prst="rect">
            <a:avLst/>
          </a:prstGeom>
          <a:solidFill>
            <a:schemeClr val="accent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6" name="Google Shape;16;p2"/>
          <p:cNvSpPr/>
          <p:nvPr/>
        </p:nvSpPr>
        <p:spPr>
          <a:xfrm>
            <a:off x="11" y="4750737"/>
            <a:ext cx="9141600" cy="480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7" name="Google Shape;17;p2"/>
          <p:cNvSpPr txBox="1"/>
          <p:nvPr>
            <p:ph type="ctrTitle"/>
          </p:nvPr>
        </p:nvSpPr>
        <p:spPr>
          <a:xfrm>
            <a:off x="822960" y="569214"/>
            <a:ext cx="7543800" cy="267450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262626"/>
              </a:buClr>
              <a:buSzPts val="6000"/>
              <a:buFont typeface="Calibri"/>
              <a:buNone/>
              <a:defRPr sz="6000">
                <a:solidFill>
                  <a:srgbClr val="26262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 name="Google Shape;18;p2"/>
          <p:cNvSpPr txBox="1"/>
          <p:nvPr>
            <p:ph idx="1" type="subTitle"/>
          </p:nvPr>
        </p:nvSpPr>
        <p:spPr>
          <a:xfrm>
            <a:off x="825038" y="3341716"/>
            <a:ext cx="7543800" cy="8574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900"/>
              </a:spcBef>
              <a:spcAft>
                <a:spcPts val="0"/>
              </a:spcAft>
              <a:buSzPts val="1800"/>
              <a:buNone/>
              <a:defRPr sz="1800" cap="none">
                <a:solidFill>
                  <a:schemeClr val="dk2"/>
                </a:solidFill>
                <a:latin typeface="Calibri"/>
                <a:ea typeface="Calibri"/>
                <a:cs typeface="Calibri"/>
                <a:sym typeface="Calibri"/>
              </a:defRPr>
            </a:lvl1pPr>
            <a:lvl2pPr lvl="1" algn="ctr">
              <a:lnSpc>
                <a:spcPct val="90000"/>
              </a:lnSpc>
              <a:spcBef>
                <a:spcPts val="200"/>
              </a:spcBef>
              <a:spcAft>
                <a:spcPts val="0"/>
              </a:spcAft>
              <a:buSzPts val="1800"/>
              <a:buNone/>
              <a:defRPr sz="1800"/>
            </a:lvl2pPr>
            <a:lvl3pPr lvl="2" algn="ctr">
              <a:lnSpc>
                <a:spcPct val="90000"/>
              </a:lnSpc>
              <a:spcBef>
                <a:spcPts val="300"/>
              </a:spcBef>
              <a:spcAft>
                <a:spcPts val="0"/>
              </a:spcAft>
              <a:buSzPts val="1800"/>
              <a:buNone/>
              <a:defRPr sz="1800"/>
            </a:lvl3pPr>
            <a:lvl4pPr lvl="3" algn="ctr">
              <a:lnSpc>
                <a:spcPct val="90000"/>
              </a:lnSpc>
              <a:spcBef>
                <a:spcPts val="300"/>
              </a:spcBef>
              <a:spcAft>
                <a:spcPts val="0"/>
              </a:spcAft>
              <a:buSzPts val="1500"/>
              <a:buNone/>
              <a:defRPr sz="1500"/>
            </a:lvl4pPr>
            <a:lvl5pPr lvl="4" algn="ctr">
              <a:lnSpc>
                <a:spcPct val="90000"/>
              </a:lnSpc>
              <a:spcBef>
                <a:spcPts val="300"/>
              </a:spcBef>
              <a:spcAft>
                <a:spcPts val="0"/>
              </a:spcAft>
              <a:buSzPts val="1500"/>
              <a:buNone/>
              <a:defRPr sz="1500"/>
            </a:lvl5pPr>
            <a:lvl6pPr lvl="5" algn="ctr">
              <a:lnSpc>
                <a:spcPct val="90000"/>
              </a:lnSpc>
              <a:spcBef>
                <a:spcPts val="300"/>
              </a:spcBef>
              <a:spcAft>
                <a:spcPts val="0"/>
              </a:spcAft>
              <a:buSzPts val="1500"/>
              <a:buNone/>
              <a:defRPr sz="1500"/>
            </a:lvl6pPr>
            <a:lvl7pPr lvl="6" algn="ctr">
              <a:lnSpc>
                <a:spcPct val="90000"/>
              </a:lnSpc>
              <a:spcBef>
                <a:spcPts val="300"/>
              </a:spcBef>
              <a:spcAft>
                <a:spcPts val="0"/>
              </a:spcAft>
              <a:buSzPts val="1500"/>
              <a:buNone/>
              <a:defRPr sz="1500"/>
            </a:lvl7pPr>
            <a:lvl8pPr lvl="7" algn="ctr">
              <a:lnSpc>
                <a:spcPct val="90000"/>
              </a:lnSpc>
              <a:spcBef>
                <a:spcPts val="300"/>
              </a:spcBef>
              <a:spcAft>
                <a:spcPts val="0"/>
              </a:spcAft>
              <a:buSzPts val="1500"/>
              <a:buNone/>
              <a:defRPr sz="1500"/>
            </a:lvl8pPr>
            <a:lvl9pPr lvl="8" algn="ctr">
              <a:lnSpc>
                <a:spcPct val="90000"/>
              </a:lnSpc>
              <a:spcBef>
                <a:spcPts val="300"/>
              </a:spcBef>
              <a:spcAft>
                <a:spcPts val="300"/>
              </a:spcAft>
              <a:buSzPts val="1500"/>
              <a:buNone/>
              <a:defRPr sz="1500"/>
            </a:lvl9pPr>
          </a:lstStyle>
          <a:p/>
        </p:txBody>
      </p:sp>
      <p:sp>
        <p:nvSpPr>
          <p:cNvPr id="19" name="Google Shape;19;p2"/>
          <p:cNvSpPr txBox="1"/>
          <p:nvPr>
            <p:ph idx="10" type="dt"/>
          </p:nvPr>
        </p:nvSpPr>
        <p:spPr>
          <a:xfrm>
            <a:off x="822960" y="4844839"/>
            <a:ext cx="18543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 name="Google Shape;20;p2"/>
          <p:cNvSpPr txBox="1"/>
          <p:nvPr>
            <p:ph idx="11" type="ftr"/>
          </p:nvPr>
        </p:nvSpPr>
        <p:spPr>
          <a:xfrm>
            <a:off x="2764639" y="4844839"/>
            <a:ext cx="3617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 name="Google Shape;21;p2"/>
          <p:cNvSpPr txBox="1"/>
          <p:nvPr>
            <p:ph idx="12" type="sldNum"/>
          </p:nvPr>
        </p:nvSpPr>
        <p:spPr>
          <a:xfrm>
            <a:off x="7425344" y="4844839"/>
            <a:ext cx="9840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l"/>
              <a:t>‹#›</a:t>
            </a:fld>
            <a:endParaRPr/>
          </a:p>
        </p:txBody>
      </p:sp>
      <p:cxnSp>
        <p:nvCxnSpPr>
          <p:cNvPr id="22" name="Google Shape;22;p2"/>
          <p:cNvCxnSpPr/>
          <p:nvPr/>
        </p:nvCxnSpPr>
        <p:spPr>
          <a:xfrm>
            <a:off x="905743" y="3257550"/>
            <a:ext cx="7406700" cy="0"/>
          </a:xfrm>
          <a:prstGeom prst="straightConnector1">
            <a:avLst/>
          </a:prstGeom>
          <a:noFill/>
          <a:ln cap="flat" cmpd="sng" w="7150">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
          <p:cNvSpPr txBox="1"/>
          <p:nvPr>
            <p:ph type="title"/>
          </p:nvPr>
        </p:nvSpPr>
        <p:spPr>
          <a:xfrm>
            <a:off x="822960" y="214952"/>
            <a:ext cx="7543800" cy="108810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3F3F3F"/>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 name="Google Shape;25;p3"/>
          <p:cNvSpPr txBox="1"/>
          <p:nvPr>
            <p:ph idx="1" type="body"/>
          </p:nvPr>
        </p:nvSpPr>
        <p:spPr>
          <a:xfrm>
            <a:off x="822960" y="1384300"/>
            <a:ext cx="7543800" cy="3017400"/>
          </a:xfrm>
          <a:prstGeom prst="rect">
            <a:avLst/>
          </a:prstGeom>
          <a:noFill/>
          <a:ln>
            <a:noFill/>
          </a:ln>
        </p:spPr>
        <p:txBody>
          <a:bodyPr anchorCtr="0" anchor="t" bIns="34275" lIns="0" spcFirstLastPara="1" rIns="0" wrap="square" tIns="34275">
            <a:normAutofit/>
          </a:bodyPr>
          <a:lstStyle>
            <a:lvl1pPr indent="-228600" lvl="0" marL="457200" algn="l">
              <a:lnSpc>
                <a:spcPct val="90000"/>
              </a:lnSpc>
              <a:spcBef>
                <a:spcPts val="900"/>
              </a:spcBef>
              <a:spcAft>
                <a:spcPts val="0"/>
              </a:spcAft>
              <a:buSzPts val="1400"/>
              <a:buNone/>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26" name="Google Shape;26;p3"/>
          <p:cNvSpPr txBox="1"/>
          <p:nvPr>
            <p:ph idx="10" type="dt"/>
          </p:nvPr>
        </p:nvSpPr>
        <p:spPr>
          <a:xfrm>
            <a:off x="822960" y="4844839"/>
            <a:ext cx="18543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 name="Google Shape;27;p3"/>
          <p:cNvSpPr txBox="1"/>
          <p:nvPr>
            <p:ph idx="11" type="ftr"/>
          </p:nvPr>
        </p:nvSpPr>
        <p:spPr>
          <a:xfrm>
            <a:off x="2764639" y="4844839"/>
            <a:ext cx="3617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 name="Google Shape;28;p3"/>
          <p:cNvSpPr txBox="1"/>
          <p:nvPr>
            <p:ph idx="12" type="sldNum"/>
          </p:nvPr>
        </p:nvSpPr>
        <p:spPr>
          <a:xfrm>
            <a:off x="7425344" y="4844839"/>
            <a:ext cx="9840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4"/>
          <p:cNvSpPr txBox="1"/>
          <p:nvPr>
            <p:ph type="title"/>
          </p:nvPr>
        </p:nvSpPr>
        <p:spPr>
          <a:xfrm>
            <a:off x="822960" y="214952"/>
            <a:ext cx="7543800" cy="108810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3F3F3F"/>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 name="Google Shape;31;p4"/>
          <p:cNvSpPr txBox="1"/>
          <p:nvPr>
            <p:ph idx="1" type="body"/>
          </p:nvPr>
        </p:nvSpPr>
        <p:spPr>
          <a:xfrm>
            <a:off x="822958" y="1384300"/>
            <a:ext cx="3703200" cy="3017400"/>
          </a:xfrm>
          <a:prstGeom prst="rect">
            <a:avLst/>
          </a:prstGeom>
          <a:noFill/>
          <a:ln>
            <a:noFill/>
          </a:ln>
        </p:spPr>
        <p:txBody>
          <a:bodyPr anchorCtr="0" anchor="t" bIns="34275" lIns="0" spcFirstLastPara="1" rIns="0" wrap="square" tIns="34275">
            <a:normAutofit/>
          </a:bodyPr>
          <a:lstStyle>
            <a:lvl1pPr indent="-228600" lvl="0" marL="457200" algn="l">
              <a:lnSpc>
                <a:spcPct val="90000"/>
              </a:lnSpc>
              <a:spcBef>
                <a:spcPts val="900"/>
              </a:spcBef>
              <a:spcAft>
                <a:spcPts val="0"/>
              </a:spcAft>
              <a:buSzPts val="1400"/>
              <a:buNone/>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32" name="Google Shape;32;p4"/>
          <p:cNvSpPr txBox="1"/>
          <p:nvPr>
            <p:ph idx="2" type="body"/>
          </p:nvPr>
        </p:nvSpPr>
        <p:spPr>
          <a:xfrm>
            <a:off x="4663440" y="1384301"/>
            <a:ext cx="3703200" cy="3017400"/>
          </a:xfrm>
          <a:prstGeom prst="rect">
            <a:avLst/>
          </a:prstGeom>
          <a:noFill/>
          <a:ln>
            <a:noFill/>
          </a:ln>
        </p:spPr>
        <p:txBody>
          <a:bodyPr anchorCtr="0" anchor="t" bIns="34275" lIns="0" spcFirstLastPara="1" rIns="0" wrap="square" tIns="34275">
            <a:normAutofit/>
          </a:bodyPr>
          <a:lstStyle>
            <a:lvl1pPr indent="-228600" lvl="0" marL="457200" algn="l">
              <a:lnSpc>
                <a:spcPct val="90000"/>
              </a:lnSpc>
              <a:spcBef>
                <a:spcPts val="900"/>
              </a:spcBef>
              <a:spcAft>
                <a:spcPts val="0"/>
              </a:spcAft>
              <a:buSzPts val="1400"/>
              <a:buNone/>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33" name="Google Shape;33;p4"/>
          <p:cNvSpPr txBox="1"/>
          <p:nvPr>
            <p:ph idx="10" type="dt"/>
          </p:nvPr>
        </p:nvSpPr>
        <p:spPr>
          <a:xfrm>
            <a:off x="822960" y="4844839"/>
            <a:ext cx="18543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 name="Google Shape;34;p4"/>
          <p:cNvSpPr txBox="1"/>
          <p:nvPr>
            <p:ph idx="11" type="ftr"/>
          </p:nvPr>
        </p:nvSpPr>
        <p:spPr>
          <a:xfrm>
            <a:off x="2764639" y="4844839"/>
            <a:ext cx="3617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 name="Google Shape;35;p4"/>
          <p:cNvSpPr txBox="1"/>
          <p:nvPr>
            <p:ph idx="12" type="sldNum"/>
          </p:nvPr>
        </p:nvSpPr>
        <p:spPr>
          <a:xfrm>
            <a:off x="7425344" y="4844839"/>
            <a:ext cx="9840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36" name="Shape 36"/>
        <p:cNvGrpSpPr/>
        <p:nvPr/>
      </p:nvGrpSpPr>
      <p:grpSpPr>
        <a:xfrm>
          <a:off x="0" y="0"/>
          <a:ext cx="0" cy="0"/>
          <a:chOff x="0" y="0"/>
          <a:chExt cx="0" cy="0"/>
        </a:xfrm>
      </p:grpSpPr>
      <p:sp>
        <p:nvSpPr>
          <p:cNvPr id="37" name="Google Shape;37;p5"/>
          <p:cNvSpPr/>
          <p:nvPr/>
        </p:nvSpPr>
        <p:spPr>
          <a:xfrm>
            <a:off x="2381" y="4800600"/>
            <a:ext cx="9141600" cy="342900"/>
          </a:xfrm>
          <a:prstGeom prst="rect">
            <a:avLst/>
          </a:prstGeom>
          <a:solidFill>
            <a:schemeClr val="accent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8" name="Google Shape;38;p5"/>
          <p:cNvSpPr/>
          <p:nvPr/>
        </p:nvSpPr>
        <p:spPr>
          <a:xfrm>
            <a:off x="11" y="4750737"/>
            <a:ext cx="9141600" cy="480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9" name="Google Shape;39;p5"/>
          <p:cNvSpPr txBox="1"/>
          <p:nvPr>
            <p:ph idx="10" type="dt"/>
          </p:nvPr>
        </p:nvSpPr>
        <p:spPr>
          <a:xfrm>
            <a:off x="822960" y="4844839"/>
            <a:ext cx="18543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0" name="Google Shape;40;p5"/>
          <p:cNvSpPr txBox="1"/>
          <p:nvPr>
            <p:ph idx="11" type="ftr"/>
          </p:nvPr>
        </p:nvSpPr>
        <p:spPr>
          <a:xfrm>
            <a:off x="2764639" y="4844839"/>
            <a:ext cx="3617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solidFill>
                  <a:srgbClr val="FFFFFF"/>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1" name="Google Shape;41;p5"/>
          <p:cNvSpPr txBox="1"/>
          <p:nvPr>
            <p:ph idx="12" type="sldNum"/>
          </p:nvPr>
        </p:nvSpPr>
        <p:spPr>
          <a:xfrm>
            <a:off x="7425344" y="4844839"/>
            <a:ext cx="9840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42" name="Shape 42"/>
        <p:cNvGrpSpPr/>
        <p:nvPr/>
      </p:nvGrpSpPr>
      <p:grpSpPr>
        <a:xfrm>
          <a:off x="0" y="0"/>
          <a:ext cx="0" cy="0"/>
          <a:chOff x="0" y="0"/>
          <a:chExt cx="0" cy="0"/>
        </a:xfrm>
      </p:grpSpPr>
      <p:sp>
        <p:nvSpPr>
          <p:cNvPr id="43" name="Google Shape;43;p6"/>
          <p:cNvSpPr/>
          <p:nvPr/>
        </p:nvSpPr>
        <p:spPr>
          <a:xfrm>
            <a:off x="2381" y="4800600"/>
            <a:ext cx="9141600" cy="342900"/>
          </a:xfrm>
          <a:prstGeom prst="rect">
            <a:avLst/>
          </a:prstGeom>
          <a:solidFill>
            <a:schemeClr val="accent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4" name="Google Shape;44;p6"/>
          <p:cNvSpPr/>
          <p:nvPr/>
        </p:nvSpPr>
        <p:spPr>
          <a:xfrm>
            <a:off x="11" y="4750737"/>
            <a:ext cx="9141600" cy="480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5" name="Google Shape;45;p6"/>
          <p:cNvSpPr txBox="1"/>
          <p:nvPr>
            <p:ph type="title"/>
          </p:nvPr>
        </p:nvSpPr>
        <p:spPr>
          <a:xfrm>
            <a:off x="822960" y="569214"/>
            <a:ext cx="7543800" cy="267450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262626"/>
              </a:buClr>
              <a:buSzPts val="6000"/>
              <a:buFont typeface="Calibri"/>
              <a:buNone/>
              <a:defRPr b="0" sz="6000">
                <a:solidFill>
                  <a:srgbClr val="26262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6" name="Google Shape;46;p6"/>
          <p:cNvSpPr txBox="1"/>
          <p:nvPr>
            <p:ph idx="1" type="body"/>
          </p:nvPr>
        </p:nvSpPr>
        <p:spPr>
          <a:xfrm>
            <a:off x="822960" y="3339846"/>
            <a:ext cx="7543800" cy="8574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900"/>
              </a:spcBef>
              <a:spcAft>
                <a:spcPts val="0"/>
              </a:spcAft>
              <a:buSzPts val="1800"/>
              <a:buNone/>
              <a:defRPr sz="18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400"/>
              <a:buNone/>
              <a:defRPr sz="1400">
                <a:solidFill>
                  <a:srgbClr val="888888"/>
                </a:solidFill>
              </a:defRPr>
            </a:lvl2pPr>
            <a:lvl3pPr indent="-228600" lvl="2" marL="1371600" algn="l">
              <a:lnSpc>
                <a:spcPct val="90000"/>
              </a:lnSpc>
              <a:spcBef>
                <a:spcPts val="300"/>
              </a:spcBef>
              <a:spcAft>
                <a:spcPts val="0"/>
              </a:spcAft>
              <a:buSzPts val="1200"/>
              <a:buNone/>
              <a:defRPr sz="1200">
                <a:solidFill>
                  <a:srgbClr val="888888"/>
                </a:solidFill>
              </a:defRPr>
            </a:lvl3pPr>
            <a:lvl4pPr indent="-228600" lvl="3" marL="1828800" algn="l">
              <a:lnSpc>
                <a:spcPct val="90000"/>
              </a:lnSpc>
              <a:spcBef>
                <a:spcPts val="300"/>
              </a:spcBef>
              <a:spcAft>
                <a:spcPts val="0"/>
              </a:spcAft>
              <a:buSzPts val="1100"/>
              <a:buNone/>
              <a:defRPr sz="1100">
                <a:solidFill>
                  <a:srgbClr val="888888"/>
                </a:solidFill>
              </a:defRPr>
            </a:lvl4pPr>
            <a:lvl5pPr indent="-228600" lvl="4" marL="2286000" algn="l">
              <a:lnSpc>
                <a:spcPct val="90000"/>
              </a:lnSpc>
              <a:spcBef>
                <a:spcPts val="300"/>
              </a:spcBef>
              <a:spcAft>
                <a:spcPts val="0"/>
              </a:spcAft>
              <a:buSzPts val="1100"/>
              <a:buNone/>
              <a:defRPr sz="1100">
                <a:solidFill>
                  <a:srgbClr val="888888"/>
                </a:solidFill>
              </a:defRPr>
            </a:lvl5pPr>
            <a:lvl6pPr indent="-228600" lvl="5" marL="2743200" algn="l">
              <a:lnSpc>
                <a:spcPct val="90000"/>
              </a:lnSpc>
              <a:spcBef>
                <a:spcPts val="300"/>
              </a:spcBef>
              <a:spcAft>
                <a:spcPts val="0"/>
              </a:spcAft>
              <a:buSzPts val="1100"/>
              <a:buNone/>
              <a:defRPr sz="1100">
                <a:solidFill>
                  <a:srgbClr val="888888"/>
                </a:solidFill>
              </a:defRPr>
            </a:lvl6pPr>
            <a:lvl7pPr indent="-228600" lvl="6" marL="3200400" algn="l">
              <a:lnSpc>
                <a:spcPct val="90000"/>
              </a:lnSpc>
              <a:spcBef>
                <a:spcPts val="300"/>
              </a:spcBef>
              <a:spcAft>
                <a:spcPts val="0"/>
              </a:spcAft>
              <a:buSzPts val="1100"/>
              <a:buNone/>
              <a:defRPr sz="1100">
                <a:solidFill>
                  <a:srgbClr val="888888"/>
                </a:solidFill>
              </a:defRPr>
            </a:lvl7pPr>
            <a:lvl8pPr indent="-228600" lvl="7" marL="3657600" algn="l">
              <a:lnSpc>
                <a:spcPct val="90000"/>
              </a:lnSpc>
              <a:spcBef>
                <a:spcPts val="300"/>
              </a:spcBef>
              <a:spcAft>
                <a:spcPts val="0"/>
              </a:spcAft>
              <a:buSzPts val="1100"/>
              <a:buNone/>
              <a:defRPr sz="1100">
                <a:solidFill>
                  <a:srgbClr val="888888"/>
                </a:solidFill>
              </a:defRPr>
            </a:lvl8pPr>
            <a:lvl9pPr indent="-228600" lvl="8" marL="4114800" algn="l">
              <a:lnSpc>
                <a:spcPct val="90000"/>
              </a:lnSpc>
              <a:spcBef>
                <a:spcPts val="300"/>
              </a:spcBef>
              <a:spcAft>
                <a:spcPts val="300"/>
              </a:spcAft>
              <a:buSzPts val="1100"/>
              <a:buNone/>
              <a:defRPr sz="1100">
                <a:solidFill>
                  <a:srgbClr val="888888"/>
                </a:solidFill>
              </a:defRPr>
            </a:lvl9pPr>
          </a:lstStyle>
          <a:p/>
        </p:txBody>
      </p:sp>
      <p:sp>
        <p:nvSpPr>
          <p:cNvPr id="47" name="Google Shape;47;p6"/>
          <p:cNvSpPr txBox="1"/>
          <p:nvPr>
            <p:ph idx="10" type="dt"/>
          </p:nvPr>
        </p:nvSpPr>
        <p:spPr>
          <a:xfrm>
            <a:off x="822960" y="4844839"/>
            <a:ext cx="18543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8" name="Google Shape;48;p6"/>
          <p:cNvSpPr txBox="1"/>
          <p:nvPr>
            <p:ph idx="11" type="ftr"/>
          </p:nvPr>
        </p:nvSpPr>
        <p:spPr>
          <a:xfrm>
            <a:off x="2764639" y="4844839"/>
            <a:ext cx="3617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9" name="Google Shape;49;p6"/>
          <p:cNvSpPr txBox="1"/>
          <p:nvPr>
            <p:ph idx="12" type="sldNum"/>
          </p:nvPr>
        </p:nvSpPr>
        <p:spPr>
          <a:xfrm>
            <a:off x="7425344" y="4844839"/>
            <a:ext cx="9840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l"/>
              <a:t>‹#›</a:t>
            </a:fld>
            <a:endParaRPr/>
          </a:p>
        </p:txBody>
      </p:sp>
      <p:cxnSp>
        <p:nvCxnSpPr>
          <p:cNvPr id="50" name="Google Shape;50;p6"/>
          <p:cNvCxnSpPr/>
          <p:nvPr/>
        </p:nvCxnSpPr>
        <p:spPr>
          <a:xfrm>
            <a:off x="905743" y="3257550"/>
            <a:ext cx="7406700" cy="0"/>
          </a:xfrm>
          <a:prstGeom prst="straightConnector1">
            <a:avLst/>
          </a:prstGeom>
          <a:noFill/>
          <a:ln cap="flat" cmpd="sng" w="7150">
            <a:solidFill>
              <a:srgbClr val="7F7F7F"/>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sp>
        <p:nvSpPr>
          <p:cNvPr id="52" name="Google Shape;52;p7"/>
          <p:cNvSpPr txBox="1"/>
          <p:nvPr>
            <p:ph type="title"/>
          </p:nvPr>
        </p:nvSpPr>
        <p:spPr>
          <a:xfrm>
            <a:off x="822960" y="214952"/>
            <a:ext cx="7543800" cy="108810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3F3F3F"/>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3" name="Google Shape;53;p7"/>
          <p:cNvSpPr txBox="1"/>
          <p:nvPr>
            <p:ph idx="1" type="body"/>
          </p:nvPr>
        </p:nvSpPr>
        <p:spPr>
          <a:xfrm>
            <a:off x="822960" y="1384539"/>
            <a:ext cx="3703200" cy="552300"/>
          </a:xfrm>
          <a:prstGeom prst="rect">
            <a:avLst/>
          </a:prstGeom>
          <a:noFill/>
          <a:ln>
            <a:noFill/>
          </a:ln>
        </p:spPr>
        <p:txBody>
          <a:bodyPr anchorCtr="0" anchor="ctr" bIns="34275" lIns="68575" spcFirstLastPara="1" rIns="68575" wrap="square" tIns="34275">
            <a:normAutofit/>
          </a:bodyPr>
          <a:lstStyle>
            <a:lvl1pPr indent="-228600" lvl="0" marL="457200" algn="l">
              <a:lnSpc>
                <a:spcPct val="90000"/>
              </a:lnSpc>
              <a:spcBef>
                <a:spcPts val="900"/>
              </a:spcBef>
              <a:spcAft>
                <a:spcPts val="0"/>
              </a:spcAft>
              <a:buSzPts val="1500"/>
              <a:buNone/>
              <a:defRPr b="0" sz="1500" cap="none">
                <a:solidFill>
                  <a:schemeClr val="dk2"/>
                </a:solidFill>
              </a:defRPr>
            </a:lvl1pPr>
            <a:lvl2pPr indent="-228600" lvl="1" marL="914400" algn="l">
              <a:lnSpc>
                <a:spcPct val="90000"/>
              </a:lnSpc>
              <a:spcBef>
                <a:spcPts val="200"/>
              </a:spcBef>
              <a:spcAft>
                <a:spcPts val="0"/>
              </a:spcAft>
              <a:buSzPts val="1500"/>
              <a:buNone/>
              <a:defRPr b="1" sz="1500"/>
            </a:lvl2pPr>
            <a:lvl3pPr indent="-228600" lvl="2" marL="1371600" algn="l">
              <a:lnSpc>
                <a:spcPct val="90000"/>
              </a:lnSpc>
              <a:spcBef>
                <a:spcPts val="300"/>
              </a:spcBef>
              <a:spcAft>
                <a:spcPts val="0"/>
              </a:spcAft>
              <a:buSzPts val="1400"/>
              <a:buNone/>
              <a:defRPr b="1" sz="1400"/>
            </a:lvl3pPr>
            <a:lvl4pPr indent="-228600" lvl="3" marL="1828800" algn="l">
              <a:lnSpc>
                <a:spcPct val="90000"/>
              </a:lnSpc>
              <a:spcBef>
                <a:spcPts val="300"/>
              </a:spcBef>
              <a:spcAft>
                <a:spcPts val="0"/>
              </a:spcAft>
              <a:buSzPts val="1200"/>
              <a:buNone/>
              <a:defRPr b="1" sz="1200"/>
            </a:lvl4pPr>
            <a:lvl5pPr indent="-228600" lvl="4" marL="2286000" algn="l">
              <a:lnSpc>
                <a:spcPct val="90000"/>
              </a:lnSpc>
              <a:spcBef>
                <a:spcPts val="300"/>
              </a:spcBef>
              <a:spcAft>
                <a:spcPts val="0"/>
              </a:spcAft>
              <a:buSzPts val="1200"/>
              <a:buNone/>
              <a:defRPr b="1" sz="1200"/>
            </a:lvl5pPr>
            <a:lvl6pPr indent="-228600" lvl="5" marL="2743200" algn="l">
              <a:lnSpc>
                <a:spcPct val="90000"/>
              </a:lnSpc>
              <a:spcBef>
                <a:spcPts val="300"/>
              </a:spcBef>
              <a:spcAft>
                <a:spcPts val="0"/>
              </a:spcAft>
              <a:buSzPts val="1200"/>
              <a:buNone/>
              <a:defRPr b="1" sz="1200"/>
            </a:lvl6pPr>
            <a:lvl7pPr indent="-228600" lvl="6" marL="3200400" algn="l">
              <a:lnSpc>
                <a:spcPct val="90000"/>
              </a:lnSpc>
              <a:spcBef>
                <a:spcPts val="300"/>
              </a:spcBef>
              <a:spcAft>
                <a:spcPts val="0"/>
              </a:spcAft>
              <a:buSzPts val="1200"/>
              <a:buNone/>
              <a:defRPr b="1" sz="1200"/>
            </a:lvl7pPr>
            <a:lvl8pPr indent="-228600" lvl="7" marL="3657600" algn="l">
              <a:lnSpc>
                <a:spcPct val="90000"/>
              </a:lnSpc>
              <a:spcBef>
                <a:spcPts val="300"/>
              </a:spcBef>
              <a:spcAft>
                <a:spcPts val="0"/>
              </a:spcAft>
              <a:buSzPts val="1200"/>
              <a:buNone/>
              <a:defRPr b="1" sz="1200"/>
            </a:lvl8pPr>
            <a:lvl9pPr indent="-228600" lvl="8" marL="4114800" algn="l">
              <a:lnSpc>
                <a:spcPct val="90000"/>
              </a:lnSpc>
              <a:spcBef>
                <a:spcPts val="300"/>
              </a:spcBef>
              <a:spcAft>
                <a:spcPts val="300"/>
              </a:spcAft>
              <a:buSzPts val="1200"/>
              <a:buNone/>
              <a:defRPr b="1" sz="1200"/>
            </a:lvl9pPr>
          </a:lstStyle>
          <a:p/>
        </p:txBody>
      </p:sp>
      <p:sp>
        <p:nvSpPr>
          <p:cNvPr id="54" name="Google Shape;54;p7"/>
          <p:cNvSpPr txBox="1"/>
          <p:nvPr>
            <p:ph idx="2" type="body"/>
          </p:nvPr>
        </p:nvSpPr>
        <p:spPr>
          <a:xfrm>
            <a:off x="822960" y="1936750"/>
            <a:ext cx="3703200" cy="2533800"/>
          </a:xfrm>
          <a:prstGeom prst="rect">
            <a:avLst/>
          </a:prstGeom>
          <a:noFill/>
          <a:ln>
            <a:noFill/>
          </a:ln>
        </p:spPr>
        <p:txBody>
          <a:bodyPr anchorCtr="0" anchor="t" bIns="34275" lIns="0" spcFirstLastPara="1" rIns="0" wrap="square" tIns="34275">
            <a:normAutofit/>
          </a:bodyPr>
          <a:lstStyle>
            <a:lvl1pPr indent="-228600" lvl="0" marL="457200" algn="l">
              <a:lnSpc>
                <a:spcPct val="90000"/>
              </a:lnSpc>
              <a:spcBef>
                <a:spcPts val="900"/>
              </a:spcBef>
              <a:spcAft>
                <a:spcPts val="0"/>
              </a:spcAft>
              <a:buSzPts val="1400"/>
              <a:buNone/>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55" name="Google Shape;55;p7"/>
          <p:cNvSpPr txBox="1"/>
          <p:nvPr>
            <p:ph idx="3" type="body"/>
          </p:nvPr>
        </p:nvSpPr>
        <p:spPr>
          <a:xfrm>
            <a:off x="4663440" y="1384539"/>
            <a:ext cx="3703200" cy="552300"/>
          </a:xfrm>
          <a:prstGeom prst="rect">
            <a:avLst/>
          </a:prstGeom>
          <a:noFill/>
          <a:ln>
            <a:noFill/>
          </a:ln>
        </p:spPr>
        <p:txBody>
          <a:bodyPr anchorCtr="0" anchor="ctr" bIns="34275" lIns="68575" spcFirstLastPara="1" rIns="68575" wrap="square" tIns="34275">
            <a:normAutofit/>
          </a:bodyPr>
          <a:lstStyle>
            <a:lvl1pPr indent="-228600" lvl="0" marL="457200" algn="l">
              <a:lnSpc>
                <a:spcPct val="90000"/>
              </a:lnSpc>
              <a:spcBef>
                <a:spcPts val="900"/>
              </a:spcBef>
              <a:spcAft>
                <a:spcPts val="0"/>
              </a:spcAft>
              <a:buSzPts val="1500"/>
              <a:buNone/>
              <a:defRPr b="0" sz="1500" cap="none">
                <a:solidFill>
                  <a:schemeClr val="dk2"/>
                </a:solidFill>
              </a:defRPr>
            </a:lvl1pPr>
            <a:lvl2pPr indent="-228600" lvl="1" marL="914400" algn="l">
              <a:lnSpc>
                <a:spcPct val="90000"/>
              </a:lnSpc>
              <a:spcBef>
                <a:spcPts val="200"/>
              </a:spcBef>
              <a:spcAft>
                <a:spcPts val="0"/>
              </a:spcAft>
              <a:buSzPts val="1500"/>
              <a:buNone/>
              <a:defRPr b="1" sz="1500"/>
            </a:lvl2pPr>
            <a:lvl3pPr indent="-228600" lvl="2" marL="1371600" algn="l">
              <a:lnSpc>
                <a:spcPct val="90000"/>
              </a:lnSpc>
              <a:spcBef>
                <a:spcPts val="300"/>
              </a:spcBef>
              <a:spcAft>
                <a:spcPts val="0"/>
              </a:spcAft>
              <a:buSzPts val="1400"/>
              <a:buNone/>
              <a:defRPr b="1" sz="1400"/>
            </a:lvl3pPr>
            <a:lvl4pPr indent="-228600" lvl="3" marL="1828800" algn="l">
              <a:lnSpc>
                <a:spcPct val="90000"/>
              </a:lnSpc>
              <a:spcBef>
                <a:spcPts val="300"/>
              </a:spcBef>
              <a:spcAft>
                <a:spcPts val="0"/>
              </a:spcAft>
              <a:buSzPts val="1200"/>
              <a:buNone/>
              <a:defRPr b="1" sz="1200"/>
            </a:lvl4pPr>
            <a:lvl5pPr indent="-228600" lvl="4" marL="2286000" algn="l">
              <a:lnSpc>
                <a:spcPct val="90000"/>
              </a:lnSpc>
              <a:spcBef>
                <a:spcPts val="300"/>
              </a:spcBef>
              <a:spcAft>
                <a:spcPts val="0"/>
              </a:spcAft>
              <a:buSzPts val="1200"/>
              <a:buNone/>
              <a:defRPr b="1" sz="1200"/>
            </a:lvl5pPr>
            <a:lvl6pPr indent="-228600" lvl="5" marL="2743200" algn="l">
              <a:lnSpc>
                <a:spcPct val="90000"/>
              </a:lnSpc>
              <a:spcBef>
                <a:spcPts val="300"/>
              </a:spcBef>
              <a:spcAft>
                <a:spcPts val="0"/>
              </a:spcAft>
              <a:buSzPts val="1200"/>
              <a:buNone/>
              <a:defRPr b="1" sz="1200"/>
            </a:lvl6pPr>
            <a:lvl7pPr indent="-228600" lvl="6" marL="3200400" algn="l">
              <a:lnSpc>
                <a:spcPct val="90000"/>
              </a:lnSpc>
              <a:spcBef>
                <a:spcPts val="300"/>
              </a:spcBef>
              <a:spcAft>
                <a:spcPts val="0"/>
              </a:spcAft>
              <a:buSzPts val="1200"/>
              <a:buNone/>
              <a:defRPr b="1" sz="1200"/>
            </a:lvl7pPr>
            <a:lvl8pPr indent="-228600" lvl="7" marL="3657600" algn="l">
              <a:lnSpc>
                <a:spcPct val="90000"/>
              </a:lnSpc>
              <a:spcBef>
                <a:spcPts val="300"/>
              </a:spcBef>
              <a:spcAft>
                <a:spcPts val="0"/>
              </a:spcAft>
              <a:buSzPts val="1200"/>
              <a:buNone/>
              <a:defRPr b="1" sz="1200"/>
            </a:lvl8pPr>
            <a:lvl9pPr indent="-228600" lvl="8" marL="4114800" algn="l">
              <a:lnSpc>
                <a:spcPct val="90000"/>
              </a:lnSpc>
              <a:spcBef>
                <a:spcPts val="300"/>
              </a:spcBef>
              <a:spcAft>
                <a:spcPts val="300"/>
              </a:spcAft>
              <a:buSzPts val="1200"/>
              <a:buNone/>
              <a:defRPr b="1" sz="1200"/>
            </a:lvl9pPr>
          </a:lstStyle>
          <a:p/>
        </p:txBody>
      </p:sp>
      <p:sp>
        <p:nvSpPr>
          <p:cNvPr id="56" name="Google Shape;56;p7"/>
          <p:cNvSpPr txBox="1"/>
          <p:nvPr>
            <p:ph idx="4" type="body"/>
          </p:nvPr>
        </p:nvSpPr>
        <p:spPr>
          <a:xfrm>
            <a:off x="4663440" y="1936750"/>
            <a:ext cx="3703200" cy="2533800"/>
          </a:xfrm>
          <a:prstGeom prst="rect">
            <a:avLst/>
          </a:prstGeom>
          <a:noFill/>
          <a:ln>
            <a:noFill/>
          </a:ln>
        </p:spPr>
        <p:txBody>
          <a:bodyPr anchorCtr="0" anchor="t" bIns="34275" lIns="0" spcFirstLastPara="1" rIns="0" wrap="square" tIns="34275">
            <a:normAutofit/>
          </a:bodyPr>
          <a:lstStyle>
            <a:lvl1pPr indent="-228600" lvl="0" marL="457200" algn="l">
              <a:lnSpc>
                <a:spcPct val="90000"/>
              </a:lnSpc>
              <a:spcBef>
                <a:spcPts val="900"/>
              </a:spcBef>
              <a:spcAft>
                <a:spcPts val="0"/>
              </a:spcAft>
              <a:buSzPts val="1400"/>
              <a:buNone/>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57" name="Google Shape;57;p7"/>
          <p:cNvSpPr txBox="1"/>
          <p:nvPr>
            <p:ph idx="10" type="dt"/>
          </p:nvPr>
        </p:nvSpPr>
        <p:spPr>
          <a:xfrm>
            <a:off x="822960" y="4844839"/>
            <a:ext cx="18543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8" name="Google Shape;58;p7"/>
          <p:cNvSpPr txBox="1"/>
          <p:nvPr>
            <p:ph idx="11" type="ftr"/>
          </p:nvPr>
        </p:nvSpPr>
        <p:spPr>
          <a:xfrm>
            <a:off x="2764639" y="4844839"/>
            <a:ext cx="3617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9" name="Google Shape;59;p7"/>
          <p:cNvSpPr txBox="1"/>
          <p:nvPr>
            <p:ph idx="12" type="sldNum"/>
          </p:nvPr>
        </p:nvSpPr>
        <p:spPr>
          <a:xfrm>
            <a:off x="7425344" y="4844839"/>
            <a:ext cx="9840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8"/>
          <p:cNvSpPr txBox="1"/>
          <p:nvPr>
            <p:ph type="title"/>
          </p:nvPr>
        </p:nvSpPr>
        <p:spPr>
          <a:xfrm>
            <a:off x="822960" y="214952"/>
            <a:ext cx="7543800" cy="108810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3F3F3F"/>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2" name="Google Shape;62;p8"/>
          <p:cNvSpPr txBox="1"/>
          <p:nvPr>
            <p:ph idx="10" type="dt"/>
          </p:nvPr>
        </p:nvSpPr>
        <p:spPr>
          <a:xfrm>
            <a:off x="822960" y="4844839"/>
            <a:ext cx="18543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3" name="Google Shape;63;p8"/>
          <p:cNvSpPr txBox="1"/>
          <p:nvPr>
            <p:ph idx="11" type="ftr"/>
          </p:nvPr>
        </p:nvSpPr>
        <p:spPr>
          <a:xfrm>
            <a:off x="2764639" y="4844839"/>
            <a:ext cx="3617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 name="Google Shape;64;p8"/>
          <p:cNvSpPr txBox="1"/>
          <p:nvPr>
            <p:ph idx="12" type="sldNum"/>
          </p:nvPr>
        </p:nvSpPr>
        <p:spPr>
          <a:xfrm>
            <a:off x="7425344" y="4844839"/>
            <a:ext cx="9840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5" name="Shape 65"/>
        <p:cNvGrpSpPr/>
        <p:nvPr/>
      </p:nvGrpSpPr>
      <p:grpSpPr>
        <a:xfrm>
          <a:off x="0" y="0"/>
          <a:ext cx="0" cy="0"/>
          <a:chOff x="0" y="0"/>
          <a:chExt cx="0" cy="0"/>
        </a:xfrm>
      </p:grpSpPr>
      <p:sp>
        <p:nvSpPr>
          <p:cNvPr id="66" name="Google Shape;66;p9"/>
          <p:cNvSpPr/>
          <p:nvPr/>
        </p:nvSpPr>
        <p:spPr>
          <a:xfrm>
            <a:off x="12" y="0"/>
            <a:ext cx="3038100" cy="5143500"/>
          </a:xfrm>
          <a:prstGeom prst="rect">
            <a:avLst/>
          </a:prstGeom>
          <a:solidFill>
            <a:schemeClr val="accent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7" name="Google Shape;67;p9"/>
          <p:cNvSpPr/>
          <p:nvPr/>
        </p:nvSpPr>
        <p:spPr>
          <a:xfrm>
            <a:off x="3030053" y="0"/>
            <a:ext cx="48000" cy="51435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8" name="Google Shape;68;p9"/>
          <p:cNvSpPr txBox="1"/>
          <p:nvPr>
            <p:ph type="title"/>
          </p:nvPr>
        </p:nvSpPr>
        <p:spPr>
          <a:xfrm>
            <a:off x="342900" y="445769"/>
            <a:ext cx="2400300" cy="171450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FFFFFF"/>
              </a:buClr>
              <a:buSzPts val="2700"/>
              <a:buFont typeface="Calibri"/>
              <a:buNone/>
              <a:defRPr b="0" sz="2700">
                <a:solidFill>
                  <a:srgbClr val="FFFFFF"/>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9" name="Google Shape;69;p9"/>
          <p:cNvSpPr txBox="1"/>
          <p:nvPr>
            <p:ph idx="1" type="body"/>
          </p:nvPr>
        </p:nvSpPr>
        <p:spPr>
          <a:xfrm>
            <a:off x="3600450" y="548640"/>
            <a:ext cx="4869300" cy="3943200"/>
          </a:xfrm>
          <a:prstGeom prst="rect">
            <a:avLst/>
          </a:prstGeom>
          <a:noFill/>
          <a:ln>
            <a:noFill/>
          </a:ln>
        </p:spPr>
        <p:txBody>
          <a:bodyPr anchorCtr="0" anchor="t" bIns="34275" lIns="0" spcFirstLastPara="1" rIns="0" wrap="square" tIns="34275">
            <a:normAutofit/>
          </a:bodyPr>
          <a:lstStyle>
            <a:lvl1pPr indent="-228600" lvl="0" marL="457200" algn="l">
              <a:lnSpc>
                <a:spcPct val="90000"/>
              </a:lnSpc>
              <a:spcBef>
                <a:spcPts val="900"/>
              </a:spcBef>
              <a:spcAft>
                <a:spcPts val="0"/>
              </a:spcAft>
              <a:buSzPts val="1400"/>
              <a:buNone/>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70" name="Google Shape;70;p9"/>
          <p:cNvSpPr txBox="1"/>
          <p:nvPr>
            <p:ph idx="2" type="body"/>
          </p:nvPr>
        </p:nvSpPr>
        <p:spPr>
          <a:xfrm>
            <a:off x="342900" y="2194560"/>
            <a:ext cx="2400300" cy="25344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900"/>
              </a:spcBef>
              <a:spcAft>
                <a:spcPts val="0"/>
              </a:spcAft>
              <a:buSzPts val="1100"/>
              <a:buNone/>
              <a:defRPr sz="1100">
                <a:solidFill>
                  <a:srgbClr val="FFFFFF"/>
                </a:solidFill>
              </a:defRPr>
            </a:lvl1pPr>
            <a:lvl2pPr indent="-228600" lvl="1" marL="914400" algn="l">
              <a:lnSpc>
                <a:spcPct val="90000"/>
              </a:lnSpc>
              <a:spcBef>
                <a:spcPts val="200"/>
              </a:spcBef>
              <a:spcAft>
                <a:spcPts val="0"/>
              </a:spcAft>
              <a:buSzPts val="900"/>
              <a:buNone/>
              <a:defRPr sz="900"/>
            </a:lvl2pPr>
            <a:lvl3pPr indent="-228600" lvl="2" marL="1371600" algn="l">
              <a:lnSpc>
                <a:spcPct val="90000"/>
              </a:lnSpc>
              <a:spcBef>
                <a:spcPts val="300"/>
              </a:spcBef>
              <a:spcAft>
                <a:spcPts val="0"/>
              </a:spcAft>
              <a:buSzPts val="800"/>
              <a:buNone/>
              <a:defRPr sz="800"/>
            </a:lvl3pPr>
            <a:lvl4pPr indent="-228600" lvl="3" marL="1828800" algn="l">
              <a:lnSpc>
                <a:spcPct val="90000"/>
              </a:lnSpc>
              <a:spcBef>
                <a:spcPts val="300"/>
              </a:spcBef>
              <a:spcAft>
                <a:spcPts val="0"/>
              </a:spcAft>
              <a:buSzPts val="700"/>
              <a:buNone/>
              <a:defRPr sz="700"/>
            </a:lvl4pPr>
            <a:lvl5pPr indent="-228600" lvl="4" marL="2286000" algn="l">
              <a:lnSpc>
                <a:spcPct val="90000"/>
              </a:lnSpc>
              <a:spcBef>
                <a:spcPts val="300"/>
              </a:spcBef>
              <a:spcAft>
                <a:spcPts val="0"/>
              </a:spcAft>
              <a:buSzPts val="700"/>
              <a:buNone/>
              <a:defRPr sz="700"/>
            </a:lvl5pPr>
            <a:lvl6pPr indent="-228600" lvl="5" marL="2743200" algn="l">
              <a:lnSpc>
                <a:spcPct val="90000"/>
              </a:lnSpc>
              <a:spcBef>
                <a:spcPts val="300"/>
              </a:spcBef>
              <a:spcAft>
                <a:spcPts val="0"/>
              </a:spcAft>
              <a:buSzPts val="700"/>
              <a:buNone/>
              <a:defRPr sz="700"/>
            </a:lvl6pPr>
            <a:lvl7pPr indent="-228600" lvl="6" marL="3200400" algn="l">
              <a:lnSpc>
                <a:spcPct val="90000"/>
              </a:lnSpc>
              <a:spcBef>
                <a:spcPts val="300"/>
              </a:spcBef>
              <a:spcAft>
                <a:spcPts val="0"/>
              </a:spcAft>
              <a:buSzPts val="700"/>
              <a:buNone/>
              <a:defRPr sz="700"/>
            </a:lvl7pPr>
            <a:lvl8pPr indent="-228600" lvl="7" marL="3657600" algn="l">
              <a:lnSpc>
                <a:spcPct val="90000"/>
              </a:lnSpc>
              <a:spcBef>
                <a:spcPts val="300"/>
              </a:spcBef>
              <a:spcAft>
                <a:spcPts val="0"/>
              </a:spcAft>
              <a:buSzPts val="700"/>
              <a:buNone/>
              <a:defRPr sz="700"/>
            </a:lvl8pPr>
            <a:lvl9pPr indent="-228600" lvl="8" marL="4114800" algn="l">
              <a:lnSpc>
                <a:spcPct val="90000"/>
              </a:lnSpc>
              <a:spcBef>
                <a:spcPts val="300"/>
              </a:spcBef>
              <a:spcAft>
                <a:spcPts val="300"/>
              </a:spcAft>
              <a:buSzPts val="700"/>
              <a:buNone/>
              <a:defRPr sz="700"/>
            </a:lvl9pPr>
          </a:lstStyle>
          <a:p/>
        </p:txBody>
      </p:sp>
      <p:sp>
        <p:nvSpPr>
          <p:cNvPr id="71" name="Google Shape;71;p9"/>
          <p:cNvSpPr txBox="1"/>
          <p:nvPr>
            <p:ph idx="10" type="dt"/>
          </p:nvPr>
        </p:nvSpPr>
        <p:spPr>
          <a:xfrm>
            <a:off x="349134" y="4844839"/>
            <a:ext cx="19638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9"/>
          <p:cNvSpPr txBox="1"/>
          <p:nvPr>
            <p:ph idx="11" type="ftr"/>
          </p:nvPr>
        </p:nvSpPr>
        <p:spPr>
          <a:xfrm>
            <a:off x="3600450" y="4844839"/>
            <a:ext cx="34863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9"/>
          <p:cNvSpPr txBox="1"/>
          <p:nvPr>
            <p:ph idx="12" type="sldNum"/>
          </p:nvPr>
        </p:nvSpPr>
        <p:spPr>
          <a:xfrm>
            <a:off x="7425344" y="4844839"/>
            <a:ext cx="9840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4" name="Shape 74"/>
        <p:cNvGrpSpPr/>
        <p:nvPr/>
      </p:nvGrpSpPr>
      <p:grpSpPr>
        <a:xfrm>
          <a:off x="0" y="0"/>
          <a:ext cx="0" cy="0"/>
          <a:chOff x="0" y="0"/>
          <a:chExt cx="0" cy="0"/>
        </a:xfrm>
      </p:grpSpPr>
      <p:sp>
        <p:nvSpPr>
          <p:cNvPr id="75" name="Google Shape;75;p10"/>
          <p:cNvSpPr/>
          <p:nvPr/>
        </p:nvSpPr>
        <p:spPr>
          <a:xfrm>
            <a:off x="0" y="3714750"/>
            <a:ext cx="9141600" cy="1428900"/>
          </a:xfrm>
          <a:prstGeom prst="rect">
            <a:avLst/>
          </a:prstGeom>
          <a:solidFill>
            <a:schemeClr val="accent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6" name="Google Shape;76;p10"/>
          <p:cNvSpPr/>
          <p:nvPr/>
        </p:nvSpPr>
        <p:spPr>
          <a:xfrm>
            <a:off x="11" y="3686307"/>
            <a:ext cx="9141600" cy="480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7" name="Google Shape;77;p10"/>
          <p:cNvSpPr txBox="1"/>
          <p:nvPr>
            <p:ph type="title"/>
          </p:nvPr>
        </p:nvSpPr>
        <p:spPr>
          <a:xfrm>
            <a:off x="822960" y="3806190"/>
            <a:ext cx="7585200" cy="617100"/>
          </a:xfrm>
          <a:prstGeom prst="rect">
            <a:avLst/>
          </a:prstGeom>
          <a:noFill/>
          <a:ln>
            <a:noFill/>
          </a:ln>
        </p:spPr>
        <p:txBody>
          <a:bodyPr anchorCtr="0" anchor="b" bIns="0" lIns="68575" spcFirstLastPara="1" rIns="68575" wrap="square" tIns="0">
            <a:noAutofit/>
          </a:bodyPr>
          <a:lstStyle>
            <a:lvl1pPr lvl="0" algn="l">
              <a:lnSpc>
                <a:spcPct val="85000"/>
              </a:lnSpc>
              <a:spcBef>
                <a:spcPts val="0"/>
              </a:spcBef>
              <a:spcAft>
                <a:spcPts val="0"/>
              </a:spcAft>
              <a:buClr>
                <a:srgbClr val="FFFFFF"/>
              </a:buClr>
              <a:buSzPts val="2700"/>
              <a:buFont typeface="Calibri"/>
              <a:buNone/>
              <a:defRPr b="0" sz="2700">
                <a:solidFill>
                  <a:srgbClr val="FFFFFF"/>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p10"/>
          <p:cNvSpPr/>
          <p:nvPr>
            <p:ph idx="2" type="pic"/>
          </p:nvPr>
        </p:nvSpPr>
        <p:spPr>
          <a:xfrm>
            <a:off x="11" y="0"/>
            <a:ext cx="9144000" cy="3686400"/>
          </a:xfrm>
          <a:prstGeom prst="rect">
            <a:avLst/>
          </a:prstGeom>
          <a:solidFill>
            <a:srgbClr val="D7D0C0"/>
          </a:solidFill>
          <a:ln>
            <a:noFill/>
          </a:ln>
        </p:spPr>
      </p:sp>
      <p:sp>
        <p:nvSpPr>
          <p:cNvPr id="79" name="Google Shape;79;p10"/>
          <p:cNvSpPr txBox="1"/>
          <p:nvPr>
            <p:ph idx="1" type="body"/>
          </p:nvPr>
        </p:nvSpPr>
        <p:spPr>
          <a:xfrm>
            <a:off x="822960" y="4430268"/>
            <a:ext cx="7584900" cy="445800"/>
          </a:xfrm>
          <a:prstGeom prst="rect">
            <a:avLst/>
          </a:prstGeom>
          <a:noFill/>
          <a:ln>
            <a:noFill/>
          </a:ln>
        </p:spPr>
        <p:txBody>
          <a:bodyPr anchorCtr="0" anchor="t" bIns="0" lIns="68575" spcFirstLastPara="1" rIns="68575" wrap="square" tIns="0">
            <a:normAutofit/>
          </a:bodyPr>
          <a:lstStyle>
            <a:lvl1pPr indent="-228600" lvl="0" marL="457200" algn="l">
              <a:lnSpc>
                <a:spcPct val="90000"/>
              </a:lnSpc>
              <a:spcBef>
                <a:spcPts val="0"/>
              </a:spcBef>
              <a:spcAft>
                <a:spcPts val="0"/>
              </a:spcAft>
              <a:buSzPts val="1100"/>
              <a:buNone/>
              <a:defRPr sz="1100">
                <a:solidFill>
                  <a:srgbClr val="FFFFFF"/>
                </a:solidFill>
              </a:defRPr>
            </a:lvl1pPr>
            <a:lvl2pPr indent="-228600" lvl="1" marL="914400" algn="l">
              <a:lnSpc>
                <a:spcPct val="90000"/>
              </a:lnSpc>
              <a:spcBef>
                <a:spcPts val="500"/>
              </a:spcBef>
              <a:spcAft>
                <a:spcPts val="0"/>
              </a:spcAft>
              <a:buSzPts val="900"/>
              <a:buNone/>
              <a:defRPr sz="900"/>
            </a:lvl2pPr>
            <a:lvl3pPr indent="-228600" lvl="2" marL="1371600" algn="l">
              <a:lnSpc>
                <a:spcPct val="90000"/>
              </a:lnSpc>
              <a:spcBef>
                <a:spcPts val="300"/>
              </a:spcBef>
              <a:spcAft>
                <a:spcPts val="0"/>
              </a:spcAft>
              <a:buSzPts val="800"/>
              <a:buNone/>
              <a:defRPr sz="800"/>
            </a:lvl3pPr>
            <a:lvl4pPr indent="-228600" lvl="3" marL="1828800" algn="l">
              <a:lnSpc>
                <a:spcPct val="90000"/>
              </a:lnSpc>
              <a:spcBef>
                <a:spcPts val="300"/>
              </a:spcBef>
              <a:spcAft>
                <a:spcPts val="0"/>
              </a:spcAft>
              <a:buSzPts val="700"/>
              <a:buNone/>
              <a:defRPr sz="700"/>
            </a:lvl4pPr>
            <a:lvl5pPr indent="-228600" lvl="4" marL="2286000" algn="l">
              <a:lnSpc>
                <a:spcPct val="90000"/>
              </a:lnSpc>
              <a:spcBef>
                <a:spcPts val="300"/>
              </a:spcBef>
              <a:spcAft>
                <a:spcPts val="0"/>
              </a:spcAft>
              <a:buSzPts val="700"/>
              <a:buNone/>
              <a:defRPr sz="700"/>
            </a:lvl5pPr>
            <a:lvl6pPr indent="-228600" lvl="5" marL="2743200" algn="l">
              <a:lnSpc>
                <a:spcPct val="90000"/>
              </a:lnSpc>
              <a:spcBef>
                <a:spcPts val="300"/>
              </a:spcBef>
              <a:spcAft>
                <a:spcPts val="0"/>
              </a:spcAft>
              <a:buSzPts val="700"/>
              <a:buNone/>
              <a:defRPr sz="700"/>
            </a:lvl6pPr>
            <a:lvl7pPr indent="-228600" lvl="6" marL="3200400" algn="l">
              <a:lnSpc>
                <a:spcPct val="90000"/>
              </a:lnSpc>
              <a:spcBef>
                <a:spcPts val="300"/>
              </a:spcBef>
              <a:spcAft>
                <a:spcPts val="0"/>
              </a:spcAft>
              <a:buSzPts val="700"/>
              <a:buNone/>
              <a:defRPr sz="700"/>
            </a:lvl7pPr>
            <a:lvl8pPr indent="-228600" lvl="7" marL="3657600" algn="l">
              <a:lnSpc>
                <a:spcPct val="90000"/>
              </a:lnSpc>
              <a:spcBef>
                <a:spcPts val="300"/>
              </a:spcBef>
              <a:spcAft>
                <a:spcPts val="0"/>
              </a:spcAft>
              <a:buSzPts val="700"/>
              <a:buNone/>
              <a:defRPr sz="700"/>
            </a:lvl8pPr>
            <a:lvl9pPr indent="-228600" lvl="8" marL="4114800" algn="l">
              <a:lnSpc>
                <a:spcPct val="90000"/>
              </a:lnSpc>
              <a:spcBef>
                <a:spcPts val="300"/>
              </a:spcBef>
              <a:spcAft>
                <a:spcPts val="300"/>
              </a:spcAft>
              <a:buSzPts val="700"/>
              <a:buNone/>
              <a:defRPr sz="700"/>
            </a:lvl9pPr>
          </a:lstStyle>
          <a:p/>
        </p:txBody>
      </p:sp>
      <p:sp>
        <p:nvSpPr>
          <p:cNvPr id="80" name="Google Shape;80;p10"/>
          <p:cNvSpPr txBox="1"/>
          <p:nvPr>
            <p:ph idx="10" type="dt"/>
          </p:nvPr>
        </p:nvSpPr>
        <p:spPr>
          <a:xfrm>
            <a:off x="822960" y="4844839"/>
            <a:ext cx="18543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1" name="Google Shape;81;p10"/>
          <p:cNvSpPr txBox="1"/>
          <p:nvPr>
            <p:ph idx="11" type="ftr"/>
          </p:nvPr>
        </p:nvSpPr>
        <p:spPr>
          <a:xfrm>
            <a:off x="2764639" y="4844839"/>
            <a:ext cx="3617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2" name="Google Shape;82;p10"/>
          <p:cNvSpPr txBox="1"/>
          <p:nvPr>
            <p:ph idx="12" type="sldNum"/>
          </p:nvPr>
        </p:nvSpPr>
        <p:spPr>
          <a:xfrm>
            <a:off x="7425344" y="4844839"/>
            <a:ext cx="9840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11"/>
          <p:cNvSpPr txBox="1"/>
          <p:nvPr>
            <p:ph type="title"/>
          </p:nvPr>
        </p:nvSpPr>
        <p:spPr>
          <a:xfrm>
            <a:off x="822960" y="214952"/>
            <a:ext cx="7543800" cy="108810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3F3F3F"/>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5" name="Google Shape;85;p11"/>
          <p:cNvSpPr txBox="1"/>
          <p:nvPr>
            <p:ph idx="1" type="body"/>
          </p:nvPr>
        </p:nvSpPr>
        <p:spPr>
          <a:xfrm rot="5400000">
            <a:off x="3086160" y="-878900"/>
            <a:ext cx="3017400" cy="7543800"/>
          </a:xfrm>
          <a:prstGeom prst="rect">
            <a:avLst/>
          </a:prstGeom>
          <a:noFill/>
          <a:ln>
            <a:noFill/>
          </a:ln>
        </p:spPr>
        <p:txBody>
          <a:bodyPr anchorCtr="0" anchor="t" bIns="0" lIns="34275" spcFirstLastPara="1" rIns="34275" wrap="square" tIns="0">
            <a:normAutofit/>
          </a:bodyPr>
          <a:lstStyle>
            <a:lvl1pPr indent="-228600" lvl="0" marL="457200" algn="l">
              <a:lnSpc>
                <a:spcPct val="90000"/>
              </a:lnSpc>
              <a:spcBef>
                <a:spcPts val="900"/>
              </a:spcBef>
              <a:spcAft>
                <a:spcPts val="0"/>
              </a:spcAft>
              <a:buSzPts val="1400"/>
              <a:buNone/>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86" name="Google Shape;86;p11"/>
          <p:cNvSpPr txBox="1"/>
          <p:nvPr>
            <p:ph idx="10" type="dt"/>
          </p:nvPr>
        </p:nvSpPr>
        <p:spPr>
          <a:xfrm>
            <a:off x="822960" y="4844839"/>
            <a:ext cx="18543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7" name="Google Shape;87;p11"/>
          <p:cNvSpPr txBox="1"/>
          <p:nvPr>
            <p:ph idx="11" type="ftr"/>
          </p:nvPr>
        </p:nvSpPr>
        <p:spPr>
          <a:xfrm>
            <a:off x="2764639" y="4844839"/>
            <a:ext cx="3617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 name="Google Shape;88;p11"/>
          <p:cNvSpPr txBox="1"/>
          <p:nvPr>
            <p:ph idx="12" type="sldNum"/>
          </p:nvPr>
        </p:nvSpPr>
        <p:spPr>
          <a:xfrm>
            <a:off x="7425344" y="4844839"/>
            <a:ext cx="9840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9" name="Shape 89"/>
        <p:cNvGrpSpPr/>
        <p:nvPr/>
      </p:nvGrpSpPr>
      <p:grpSpPr>
        <a:xfrm>
          <a:off x="0" y="0"/>
          <a:ext cx="0" cy="0"/>
          <a:chOff x="0" y="0"/>
          <a:chExt cx="0" cy="0"/>
        </a:xfrm>
      </p:grpSpPr>
      <p:sp>
        <p:nvSpPr>
          <p:cNvPr id="90" name="Google Shape;90;p12"/>
          <p:cNvSpPr/>
          <p:nvPr/>
        </p:nvSpPr>
        <p:spPr>
          <a:xfrm>
            <a:off x="2381" y="4800600"/>
            <a:ext cx="9141600" cy="342900"/>
          </a:xfrm>
          <a:prstGeom prst="rect">
            <a:avLst/>
          </a:prstGeom>
          <a:solidFill>
            <a:schemeClr val="accent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1" name="Google Shape;91;p12"/>
          <p:cNvSpPr/>
          <p:nvPr/>
        </p:nvSpPr>
        <p:spPr>
          <a:xfrm>
            <a:off x="11" y="4750737"/>
            <a:ext cx="9141600" cy="480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2" name="Google Shape;92;p12"/>
          <p:cNvSpPr txBox="1"/>
          <p:nvPr>
            <p:ph type="title"/>
          </p:nvPr>
        </p:nvSpPr>
        <p:spPr>
          <a:xfrm rot="5400000">
            <a:off x="5369550" y="1483427"/>
            <a:ext cx="4320000" cy="197160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3F3F3F"/>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3" name="Google Shape;93;p12"/>
          <p:cNvSpPr txBox="1"/>
          <p:nvPr>
            <p:ph idx="1" type="body"/>
          </p:nvPr>
        </p:nvSpPr>
        <p:spPr>
          <a:xfrm rot="5400000">
            <a:off x="1368975" y="-431174"/>
            <a:ext cx="4320000" cy="5800800"/>
          </a:xfrm>
          <a:prstGeom prst="rect">
            <a:avLst/>
          </a:prstGeom>
          <a:noFill/>
          <a:ln>
            <a:noFill/>
          </a:ln>
        </p:spPr>
        <p:txBody>
          <a:bodyPr anchorCtr="0" anchor="t" bIns="0" lIns="34275" spcFirstLastPara="1" rIns="34275" wrap="square" tIns="0">
            <a:normAutofit/>
          </a:bodyPr>
          <a:lstStyle>
            <a:lvl1pPr indent="-228600" lvl="0" marL="457200" algn="l">
              <a:lnSpc>
                <a:spcPct val="90000"/>
              </a:lnSpc>
              <a:spcBef>
                <a:spcPts val="900"/>
              </a:spcBef>
              <a:spcAft>
                <a:spcPts val="0"/>
              </a:spcAft>
              <a:buSzPts val="1400"/>
              <a:buNone/>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94" name="Google Shape;94;p12"/>
          <p:cNvSpPr txBox="1"/>
          <p:nvPr>
            <p:ph idx="10" type="dt"/>
          </p:nvPr>
        </p:nvSpPr>
        <p:spPr>
          <a:xfrm>
            <a:off x="822960" y="4844839"/>
            <a:ext cx="18543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5" name="Google Shape;95;p12"/>
          <p:cNvSpPr txBox="1"/>
          <p:nvPr>
            <p:ph idx="11" type="ftr"/>
          </p:nvPr>
        </p:nvSpPr>
        <p:spPr>
          <a:xfrm>
            <a:off x="2764639" y="4844839"/>
            <a:ext cx="3617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6" name="Google Shape;96;p12"/>
          <p:cNvSpPr txBox="1"/>
          <p:nvPr>
            <p:ph idx="12" type="sldNum"/>
          </p:nvPr>
        </p:nvSpPr>
        <p:spPr>
          <a:xfrm>
            <a:off x="7425344" y="4844839"/>
            <a:ext cx="9840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1" y="4800600"/>
            <a:ext cx="9144000" cy="342900"/>
          </a:xfrm>
          <a:prstGeom prst="rect">
            <a:avLst/>
          </a:prstGeom>
          <a:solidFill>
            <a:schemeClr val="accent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 name="Google Shape;7;p1"/>
          <p:cNvSpPr/>
          <p:nvPr/>
        </p:nvSpPr>
        <p:spPr>
          <a:xfrm>
            <a:off x="11" y="4750737"/>
            <a:ext cx="9144000" cy="498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 name="Google Shape;8;p1"/>
          <p:cNvSpPr txBox="1"/>
          <p:nvPr>
            <p:ph type="title"/>
          </p:nvPr>
        </p:nvSpPr>
        <p:spPr>
          <a:xfrm>
            <a:off x="822960" y="214952"/>
            <a:ext cx="7543800" cy="1088100"/>
          </a:xfrm>
          <a:prstGeom prst="rect">
            <a:avLst/>
          </a:prstGeom>
          <a:noFill/>
          <a:ln>
            <a:noFill/>
          </a:ln>
        </p:spPr>
        <p:txBody>
          <a:bodyPr anchorCtr="0" anchor="b" bIns="34275" lIns="68575" spcFirstLastPara="1" rIns="68575" wrap="square" tIns="34275">
            <a:normAutofit/>
          </a:bodyPr>
          <a:lstStyle>
            <a:lvl1pPr lvl="0" marR="0" rtl="0" algn="l">
              <a:lnSpc>
                <a:spcPct val="85000"/>
              </a:lnSpc>
              <a:spcBef>
                <a:spcPts val="0"/>
              </a:spcBef>
              <a:spcAft>
                <a:spcPts val="0"/>
              </a:spcAft>
              <a:buClr>
                <a:srgbClr val="3F3F3F"/>
              </a:buClr>
              <a:buSzPts val="3600"/>
              <a:buFont typeface="Calibri"/>
              <a:buNone/>
              <a:defRPr b="0" i="0" sz="3600" u="none" cap="none" strike="noStrike">
                <a:solidFill>
                  <a:srgbClr val="3F3F3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9" name="Google Shape;9;p1"/>
          <p:cNvSpPr txBox="1"/>
          <p:nvPr>
            <p:ph idx="1" type="body"/>
          </p:nvPr>
        </p:nvSpPr>
        <p:spPr>
          <a:xfrm>
            <a:off x="822960" y="1384300"/>
            <a:ext cx="7543800" cy="3017400"/>
          </a:xfrm>
          <a:prstGeom prst="rect">
            <a:avLst/>
          </a:prstGeom>
          <a:noFill/>
          <a:ln>
            <a:noFill/>
          </a:ln>
        </p:spPr>
        <p:txBody>
          <a:bodyPr anchorCtr="0" anchor="t" bIns="34275" lIns="0" spcFirstLastPara="1" rIns="0" wrap="square" tIns="34275">
            <a:normAutofit/>
          </a:bodyPr>
          <a:lstStyle>
            <a:lvl1pPr indent="-228600" lvl="0" marL="457200" marR="0" rtl="0" algn="l">
              <a:lnSpc>
                <a:spcPct val="90000"/>
              </a:lnSpc>
              <a:spcBef>
                <a:spcPts val="900"/>
              </a:spcBef>
              <a:spcAft>
                <a:spcPts val="0"/>
              </a:spcAft>
              <a:buClr>
                <a:schemeClr val="accent1"/>
              </a:buClr>
              <a:buSzPts val="1500"/>
              <a:buFont typeface="Calibri"/>
              <a:buNone/>
              <a:defRPr b="0" i="0" sz="1500" u="none" cap="none" strike="noStrike">
                <a:solidFill>
                  <a:srgbClr val="3F3F3F"/>
                </a:solidFill>
                <a:latin typeface="Calibri"/>
                <a:ea typeface="Calibri"/>
                <a:cs typeface="Calibri"/>
                <a:sym typeface="Calibri"/>
              </a:defRPr>
            </a:lvl1pPr>
            <a:lvl2pPr indent="-317500" lvl="1" marL="914400" marR="0" rtl="0" algn="l">
              <a:lnSpc>
                <a:spcPct val="90000"/>
              </a:lnSpc>
              <a:spcBef>
                <a:spcPts val="2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2pPr>
            <a:lvl3pPr indent="-298450" lvl="2" marL="1371600" marR="0" rtl="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Calibri"/>
                <a:ea typeface="Calibri"/>
                <a:cs typeface="Calibri"/>
                <a:sym typeface="Calibri"/>
              </a:defRPr>
            </a:lvl3pPr>
            <a:lvl4pPr indent="-298450" lvl="3" marL="1828800" marR="0" rtl="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Calibri"/>
                <a:ea typeface="Calibri"/>
                <a:cs typeface="Calibri"/>
                <a:sym typeface="Calibri"/>
              </a:defRPr>
            </a:lvl4pPr>
            <a:lvl5pPr indent="-298450" lvl="4" marL="2286000" marR="0" rtl="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Calibri"/>
                <a:ea typeface="Calibri"/>
                <a:cs typeface="Calibri"/>
                <a:sym typeface="Calibri"/>
              </a:defRPr>
            </a:lvl5pPr>
            <a:lvl6pPr indent="-298450" lvl="5" marL="2743200" marR="0" rtl="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Calibri"/>
                <a:ea typeface="Calibri"/>
                <a:cs typeface="Calibri"/>
                <a:sym typeface="Calibri"/>
              </a:defRPr>
            </a:lvl6pPr>
            <a:lvl7pPr indent="-298450" lvl="6" marL="3200400" marR="0" rtl="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Calibri"/>
                <a:ea typeface="Calibri"/>
                <a:cs typeface="Calibri"/>
                <a:sym typeface="Calibri"/>
              </a:defRPr>
            </a:lvl7pPr>
            <a:lvl8pPr indent="-298450" lvl="7" marL="3657600" marR="0" rtl="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Calibri"/>
                <a:ea typeface="Calibri"/>
                <a:cs typeface="Calibri"/>
                <a:sym typeface="Calibri"/>
              </a:defRPr>
            </a:lvl8pPr>
            <a:lvl9pPr indent="-298450" lvl="8" marL="4114800" marR="0" rtl="0" algn="l">
              <a:lnSpc>
                <a:spcPct val="90000"/>
              </a:lnSpc>
              <a:spcBef>
                <a:spcPts val="300"/>
              </a:spcBef>
              <a:spcAft>
                <a:spcPts val="300"/>
              </a:spcAft>
              <a:buClr>
                <a:schemeClr val="accent1"/>
              </a:buClr>
              <a:buSzPts val="1100"/>
              <a:buFont typeface="Calibri"/>
              <a:buChar char="◦"/>
              <a:defRPr b="0" i="0" sz="1100" u="none" cap="none" strike="noStrike">
                <a:solidFill>
                  <a:srgbClr val="3F3F3F"/>
                </a:solidFill>
                <a:latin typeface="Calibri"/>
                <a:ea typeface="Calibri"/>
                <a:cs typeface="Calibri"/>
                <a:sym typeface="Calibri"/>
              </a:defRPr>
            </a:lvl9pPr>
          </a:lstStyle>
          <a:p/>
        </p:txBody>
      </p:sp>
      <p:sp>
        <p:nvSpPr>
          <p:cNvPr id="10" name="Google Shape;10;p1"/>
          <p:cNvSpPr txBox="1"/>
          <p:nvPr>
            <p:ph idx="10" type="dt"/>
          </p:nvPr>
        </p:nvSpPr>
        <p:spPr>
          <a:xfrm>
            <a:off x="822960" y="4844839"/>
            <a:ext cx="18543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7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1" name="Google Shape;11;p1"/>
          <p:cNvSpPr txBox="1"/>
          <p:nvPr>
            <p:ph idx="11" type="ftr"/>
          </p:nvPr>
        </p:nvSpPr>
        <p:spPr>
          <a:xfrm>
            <a:off x="2764639" y="4844839"/>
            <a:ext cx="3617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7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7425344" y="4844839"/>
            <a:ext cx="9840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l"/>
              <a:t>‹#›</a:t>
            </a:fld>
            <a:endParaRPr/>
          </a:p>
        </p:txBody>
      </p:sp>
      <p:cxnSp>
        <p:nvCxnSpPr>
          <p:cNvPr id="13" name="Google Shape;13;p1"/>
          <p:cNvCxnSpPr/>
          <p:nvPr/>
        </p:nvCxnSpPr>
        <p:spPr>
          <a:xfrm>
            <a:off x="895149" y="1303384"/>
            <a:ext cx="7475100" cy="0"/>
          </a:xfrm>
          <a:prstGeom prst="straightConnector1">
            <a:avLst/>
          </a:prstGeom>
          <a:noFill/>
          <a:ln cap="flat" cmpd="sng" w="7150">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3"/>
          <p:cNvSpPr txBox="1"/>
          <p:nvPr>
            <p:ph type="ctrTitle"/>
          </p:nvPr>
        </p:nvSpPr>
        <p:spPr>
          <a:xfrm>
            <a:off x="822960" y="569214"/>
            <a:ext cx="7543800" cy="26745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el"/>
              <a:t>A Minimal Metabolic Model of Energy-Driven</a:t>
            </a:r>
            <a:endParaRPr/>
          </a:p>
          <a:p>
            <a:pPr indent="0" lvl="0" marL="0" rtl="0" algn="l">
              <a:spcBef>
                <a:spcPts val="0"/>
              </a:spcBef>
              <a:spcAft>
                <a:spcPts val="0"/>
              </a:spcAft>
              <a:buNone/>
            </a:pPr>
            <a:r>
              <a:rPr lang="el"/>
              <a:t>Dormancy in E. coli</a:t>
            </a:r>
            <a:endParaRPr/>
          </a:p>
        </p:txBody>
      </p:sp>
      <p:sp>
        <p:nvSpPr>
          <p:cNvPr id="102" name="Google Shape;102;p13"/>
          <p:cNvSpPr txBox="1"/>
          <p:nvPr>
            <p:ph idx="1" type="subTitle"/>
          </p:nvPr>
        </p:nvSpPr>
        <p:spPr>
          <a:xfrm>
            <a:off x="825038" y="3341716"/>
            <a:ext cx="7543800" cy="857400"/>
          </a:xfrm>
          <a:prstGeom prst="rect">
            <a:avLst/>
          </a:prstGeom>
        </p:spPr>
        <p:txBody>
          <a:bodyPr anchorCtr="0" anchor="t" bIns="34275" lIns="68575" spcFirstLastPara="1" rIns="68575" wrap="square" tIns="34275">
            <a:noAutofit/>
          </a:bodyPr>
          <a:lstStyle/>
          <a:p>
            <a:pPr indent="0" lvl="0" marL="0" rtl="0" algn="l">
              <a:lnSpc>
                <a:spcPct val="70000"/>
              </a:lnSpc>
              <a:spcBef>
                <a:spcPts val="900"/>
              </a:spcBef>
              <a:spcAft>
                <a:spcPts val="0"/>
              </a:spcAft>
              <a:buSzPts val="1018"/>
              <a:buNone/>
            </a:pPr>
            <a:r>
              <a:rPr lang="el" sz="2165"/>
              <a:t>George-David Apostolidis, Aadreeta Biswas and Jeroen Mieras</a:t>
            </a:r>
            <a:endParaRPr sz="2165"/>
          </a:p>
          <a:p>
            <a:pPr indent="0" lvl="0" marL="0" rtl="0" algn="l">
              <a:lnSpc>
                <a:spcPct val="70000"/>
              </a:lnSpc>
              <a:spcBef>
                <a:spcPts val="900"/>
              </a:spcBef>
              <a:spcAft>
                <a:spcPts val="0"/>
              </a:spcAft>
              <a:buSzPts val="1018"/>
              <a:buNone/>
            </a:pPr>
            <a:r>
              <a:t/>
            </a:r>
            <a:endParaRPr sz="2165"/>
          </a:p>
          <a:p>
            <a:pPr indent="0" lvl="0" marL="0" rtl="0" algn="l">
              <a:lnSpc>
                <a:spcPct val="70000"/>
              </a:lnSpc>
              <a:spcBef>
                <a:spcPts val="900"/>
              </a:spcBef>
              <a:spcAft>
                <a:spcPts val="0"/>
              </a:spcAft>
              <a:buSzPts val="1018"/>
              <a:buNone/>
            </a:pPr>
            <a:r>
              <a:rPr lang="el" sz="2165"/>
              <a:t>Modelling in Systems Biology</a:t>
            </a:r>
            <a:endParaRPr sz="2165"/>
          </a:p>
        </p:txBody>
      </p:sp>
      <p:pic>
        <p:nvPicPr>
          <p:cNvPr id="103" name="Google Shape;103;p13" title="WUR_512.png"/>
          <p:cNvPicPr preferRelativeResize="0"/>
          <p:nvPr/>
        </p:nvPicPr>
        <p:blipFill>
          <a:blip r:embed="rId3">
            <a:alphaModFix/>
          </a:blip>
          <a:stretch>
            <a:fillRect/>
          </a:stretch>
        </p:blipFill>
        <p:spPr>
          <a:xfrm>
            <a:off x="6178450" y="3623300"/>
            <a:ext cx="2871725" cy="1402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4"/>
          <p:cNvSpPr txBox="1"/>
          <p:nvPr>
            <p:ph type="title"/>
          </p:nvPr>
        </p:nvSpPr>
        <p:spPr>
          <a:xfrm>
            <a:off x="822956" y="214950"/>
            <a:ext cx="2651400" cy="10881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el"/>
              <a:t>Background</a:t>
            </a:r>
            <a:endParaRPr/>
          </a:p>
        </p:txBody>
      </p:sp>
      <p:pic>
        <p:nvPicPr>
          <p:cNvPr id="109" name="Google Shape;109;p14" title="1-s2.0-S0065291120300175-f04-05-9780128207482.jpg"/>
          <p:cNvPicPr preferRelativeResize="0"/>
          <p:nvPr/>
        </p:nvPicPr>
        <p:blipFill>
          <a:blip r:embed="rId3">
            <a:alphaModFix/>
          </a:blip>
          <a:stretch>
            <a:fillRect/>
          </a:stretch>
        </p:blipFill>
        <p:spPr>
          <a:xfrm>
            <a:off x="2929725" y="1363550"/>
            <a:ext cx="3284525" cy="3386375"/>
          </a:xfrm>
          <a:prstGeom prst="rect">
            <a:avLst/>
          </a:prstGeom>
          <a:noFill/>
          <a:ln>
            <a:noFill/>
          </a:ln>
        </p:spPr>
      </p:pic>
      <p:sp>
        <p:nvSpPr>
          <p:cNvPr id="110" name="Google Shape;110;p14"/>
          <p:cNvSpPr/>
          <p:nvPr/>
        </p:nvSpPr>
        <p:spPr>
          <a:xfrm>
            <a:off x="3449150" y="1435300"/>
            <a:ext cx="914100" cy="317400"/>
          </a:xfrm>
          <a:prstGeom prst="frame">
            <a:avLst>
              <a:gd fmla="val 12500" name="adj1"/>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11" name="Google Shape;111;p14"/>
          <p:cNvSpPr/>
          <p:nvPr/>
        </p:nvSpPr>
        <p:spPr>
          <a:xfrm>
            <a:off x="4085350" y="1844750"/>
            <a:ext cx="785100" cy="317400"/>
          </a:xfrm>
          <a:prstGeom prst="frame">
            <a:avLst>
              <a:gd fmla="val 12500" name="adj1"/>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12" name="Google Shape;112;p14"/>
          <p:cNvSpPr/>
          <p:nvPr/>
        </p:nvSpPr>
        <p:spPr>
          <a:xfrm>
            <a:off x="4021125" y="3000900"/>
            <a:ext cx="914100" cy="872700"/>
          </a:xfrm>
          <a:prstGeom prst="frame">
            <a:avLst>
              <a:gd fmla="val 5155" name="adj1"/>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5"/>
          <p:cNvSpPr txBox="1"/>
          <p:nvPr>
            <p:ph type="title"/>
          </p:nvPr>
        </p:nvSpPr>
        <p:spPr>
          <a:xfrm>
            <a:off x="800100" y="1329724"/>
            <a:ext cx="7543800" cy="17862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None/>
            </a:pPr>
            <a:r>
              <a:rPr lang="el"/>
              <a:t>How can we use the data to estimate the reaction rates and key parameters of our metabolic model focusing on the PEP-PYR node?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6"/>
          <p:cNvSpPr txBox="1"/>
          <p:nvPr>
            <p:ph type="title"/>
          </p:nvPr>
        </p:nvSpPr>
        <p:spPr>
          <a:xfrm>
            <a:off x="800100" y="1320424"/>
            <a:ext cx="7543800" cy="17955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None/>
            </a:pPr>
            <a:r>
              <a:rPr lang="el"/>
              <a:t>Under which conditions does the simplified 2-equation model predict that E. coli cells remain dormant or </a:t>
            </a:r>
            <a:r>
              <a:rPr lang="el"/>
              <a:t>transition</a:t>
            </a:r>
            <a:r>
              <a:rPr lang="el"/>
              <a:t> into active growth?</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7"/>
          <p:cNvSpPr txBox="1"/>
          <p:nvPr>
            <p:ph type="title"/>
          </p:nvPr>
        </p:nvSpPr>
        <p:spPr>
          <a:xfrm>
            <a:off x="800100" y="1320423"/>
            <a:ext cx="7543800" cy="21804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ct val="30555"/>
              <a:buFont typeface="Arial"/>
              <a:buNone/>
            </a:pPr>
            <a:r>
              <a:rPr lang="el"/>
              <a:t>Can the simplified model reproduce the ability of dormant cells to resume growth under low-energy conditions?</a:t>
            </a:r>
            <a:endParaRPr/>
          </a:p>
          <a:p>
            <a:pPr indent="0" lvl="0" marL="0" rtl="0" algn="l">
              <a:spcBef>
                <a:spcPts val="0"/>
              </a:spcBef>
              <a:spcAft>
                <a:spcPts val="0"/>
              </a:spcAft>
              <a:buNone/>
            </a:pPr>
            <a:r>
              <a:rPr lang="el"/>
              <a:t>If not, what minimal modifications to the model allow dormant cells to “wake up”?</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18"/>
          <p:cNvPicPr preferRelativeResize="0"/>
          <p:nvPr/>
        </p:nvPicPr>
        <p:blipFill rotWithShape="1">
          <a:blip r:embed="rId3">
            <a:alphaModFix/>
          </a:blip>
          <a:srcRect b="0" l="0" r="0" t="0"/>
          <a:stretch/>
        </p:blipFill>
        <p:spPr>
          <a:xfrm>
            <a:off x="816187" y="1316145"/>
            <a:ext cx="7511624" cy="2511225"/>
          </a:xfrm>
          <a:prstGeom prst="rect">
            <a:avLst/>
          </a:prstGeom>
          <a:noFill/>
          <a:ln>
            <a:noFill/>
          </a:ln>
        </p:spPr>
      </p:pic>
      <p:pic>
        <p:nvPicPr>
          <p:cNvPr id="133" name="Google Shape;133;p18"/>
          <p:cNvPicPr preferRelativeResize="0"/>
          <p:nvPr/>
        </p:nvPicPr>
        <p:blipFill>
          <a:blip r:embed="rId4">
            <a:alphaModFix/>
          </a:blip>
          <a:stretch>
            <a:fillRect/>
          </a:stretch>
        </p:blipFill>
        <p:spPr>
          <a:xfrm>
            <a:off x="1022450" y="3878911"/>
            <a:ext cx="2195674" cy="23953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19"/>
          <p:cNvPicPr preferRelativeResize="0"/>
          <p:nvPr/>
        </p:nvPicPr>
        <p:blipFill>
          <a:blip r:embed="rId3">
            <a:alphaModFix/>
          </a:blip>
          <a:stretch>
            <a:fillRect/>
          </a:stretch>
        </p:blipFill>
        <p:spPr>
          <a:xfrm>
            <a:off x="152400" y="1136525"/>
            <a:ext cx="8839199" cy="186185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0"/>
          <p:cNvSpPr/>
          <p:nvPr/>
        </p:nvSpPr>
        <p:spPr>
          <a:xfrm>
            <a:off x="584500" y="823913"/>
            <a:ext cx="3276000" cy="1000200"/>
          </a:xfrm>
          <a:prstGeom prst="flowChartAlternateProcess">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l" sz="1500">
                <a:latin typeface="Calibri"/>
                <a:ea typeface="Calibri"/>
                <a:cs typeface="Calibri"/>
                <a:sym typeface="Calibri"/>
              </a:rPr>
              <a:t>N</a:t>
            </a:r>
            <a:r>
              <a:rPr lang="el" sz="1500">
                <a:latin typeface="Calibri"/>
                <a:ea typeface="Calibri"/>
                <a:cs typeface="Calibri"/>
                <a:sym typeface="Calibri"/>
              </a:rPr>
              <a:t> = 2000 parameter sets for random values (between selected bounds) of </a:t>
            </a:r>
            <a:endParaRPr sz="1500">
              <a:latin typeface="Calibri"/>
              <a:ea typeface="Calibri"/>
              <a:cs typeface="Calibri"/>
              <a:sym typeface="Calibri"/>
            </a:endParaRPr>
          </a:p>
          <a:p>
            <a:pPr indent="0" lvl="0" marL="0" rtl="0" algn="ctr">
              <a:spcBef>
                <a:spcPts val="0"/>
              </a:spcBef>
              <a:spcAft>
                <a:spcPts val="0"/>
              </a:spcAft>
              <a:buNone/>
            </a:pPr>
            <a:r>
              <a:rPr lang="el" sz="1500">
                <a:solidFill>
                  <a:srgbClr val="000000"/>
                </a:solidFill>
                <a:latin typeface="Calibri"/>
                <a:ea typeface="Calibri"/>
                <a:cs typeface="Calibri"/>
                <a:sym typeface="Calibri"/>
              </a:rPr>
              <a:t>OAA(0),</a:t>
            </a:r>
            <a:r>
              <a:rPr lang="el" sz="1500">
                <a:latin typeface="Calibri"/>
                <a:ea typeface="Calibri"/>
                <a:cs typeface="Calibri"/>
                <a:sym typeface="Calibri"/>
              </a:rPr>
              <a:t> </a:t>
            </a:r>
            <a:r>
              <a:rPr i="1" lang="el" sz="1500">
                <a:latin typeface="Calibri"/>
                <a:ea typeface="Calibri"/>
                <a:cs typeface="Calibri"/>
                <a:sym typeface="Calibri"/>
              </a:rPr>
              <a:t>d</a:t>
            </a:r>
            <a:r>
              <a:rPr lang="el" sz="1500">
                <a:latin typeface="Calibri"/>
                <a:ea typeface="Calibri"/>
                <a:cs typeface="Calibri"/>
                <a:sym typeface="Calibri"/>
              </a:rPr>
              <a:t>, and </a:t>
            </a:r>
            <a:r>
              <a:rPr i="1" lang="el" sz="1500">
                <a:latin typeface="Calibri"/>
                <a:ea typeface="Calibri"/>
                <a:cs typeface="Calibri"/>
                <a:sym typeface="Calibri"/>
              </a:rPr>
              <a:t>φ</a:t>
            </a:r>
            <a:r>
              <a:rPr lang="el" sz="1500">
                <a:latin typeface="Calibri"/>
                <a:ea typeface="Calibri"/>
                <a:cs typeface="Calibri"/>
                <a:sym typeface="Calibri"/>
              </a:rPr>
              <a:t>0</a:t>
            </a:r>
            <a:endParaRPr sz="1500">
              <a:latin typeface="Calibri"/>
              <a:ea typeface="Calibri"/>
              <a:cs typeface="Calibri"/>
              <a:sym typeface="Calibri"/>
            </a:endParaRPr>
          </a:p>
        </p:txBody>
      </p:sp>
      <p:sp>
        <p:nvSpPr>
          <p:cNvPr id="144" name="Google Shape;144;p20"/>
          <p:cNvSpPr/>
          <p:nvPr/>
        </p:nvSpPr>
        <p:spPr>
          <a:xfrm flipH="1" rot="-5400000">
            <a:off x="4305750" y="1064200"/>
            <a:ext cx="532500" cy="519600"/>
          </a:xfrm>
          <a:prstGeom prst="downArrow">
            <a:avLst>
              <a:gd fmla="val 50000" name="adj1"/>
              <a:gd fmla="val 50000" name="adj2"/>
            </a:avLst>
          </a:prstGeom>
          <a:solidFill>
            <a:srgbClr val="98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5" name="Google Shape;145;p20"/>
          <p:cNvSpPr/>
          <p:nvPr/>
        </p:nvSpPr>
        <p:spPr>
          <a:xfrm>
            <a:off x="5283500" y="823913"/>
            <a:ext cx="3276000" cy="1000200"/>
          </a:xfrm>
          <a:prstGeom prst="flowChartAlternateProcess">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l" sz="1500">
                <a:latin typeface="Calibri"/>
                <a:ea typeface="Calibri"/>
                <a:cs typeface="Calibri"/>
                <a:sym typeface="Calibri"/>
              </a:rPr>
              <a:t>Select lowest scoring parameter set</a:t>
            </a:r>
            <a:endParaRPr sz="1500">
              <a:latin typeface="Calibri"/>
              <a:ea typeface="Calibri"/>
              <a:cs typeface="Calibri"/>
              <a:sym typeface="Calibri"/>
            </a:endParaRPr>
          </a:p>
        </p:txBody>
      </p:sp>
      <p:sp>
        <p:nvSpPr>
          <p:cNvPr id="146" name="Google Shape;146;p20"/>
          <p:cNvSpPr/>
          <p:nvPr/>
        </p:nvSpPr>
        <p:spPr>
          <a:xfrm rot="-5400000">
            <a:off x="4305750" y="3267675"/>
            <a:ext cx="532500" cy="519600"/>
          </a:xfrm>
          <a:prstGeom prst="downArrow">
            <a:avLst>
              <a:gd fmla="val 50000" name="adj1"/>
              <a:gd fmla="val 50000" name="adj2"/>
            </a:avLst>
          </a:prstGeom>
          <a:solidFill>
            <a:srgbClr val="98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7" name="Google Shape;147;p20"/>
          <p:cNvSpPr/>
          <p:nvPr/>
        </p:nvSpPr>
        <p:spPr>
          <a:xfrm>
            <a:off x="584500" y="3027388"/>
            <a:ext cx="3276000" cy="1000200"/>
          </a:xfrm>
          <a:prstGeom prst="flowChartAlternateProcess">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l" sz="1500">
                <a:latin typeface="Calibri"/>
                <a:ea typeface="Calibri"/>
                <a:cs typeface="Calibri"/>
                <a:sym typeface="Calibri"/>
              </a:rPr>
              <a:t>Optimisation</a:t>
            </a:r>
            <a:endParaRPr sz="1500">
              <a:latin typeface="Calibri"/>
              <a:ea typeface="Calibri"/>
              <a:cs typeface="Calibri"/>
              <a:sym typeface="Calibri"/>
            </a:endParaRPr>
          </a:p>
        </p:txBody>
      </p:sp>
      <p:sp>
        <p:nvSpPr>
          <p:cNvPr id="148" name="Google Shape;148;p20"/>
          <p:cNvSpPr/>
          <p:nvPr/>
        </p:nvSpPr>
        <p:spPr>
          <a:xfrm>
            <a:off x="5283500" y="3027388"/>
            <a:ext cx="3276000" cy="1000200"/>
          </a:xfrm>
          <a:prstGeom prst="flowChartAlternateProcess">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l" sz="1500">
                <a:latin typeface="Calibri"/>
                <a:ea typeface="Calibri"/>
                <a:cs typeface="Calibri"/>
                <a:sym typeface="Calibri"/>
              </a:rPr>
              <a:t>Select lowest scoring parameter set</a:t>
            </a:r>
            <a:endParaRPr sz="1500">
              <a:latin typeface="Calibri"/>
              <a:ea typeface="Calibri"/>
              <a:cs typeface="Calibri"/>
              <a:sym typeface="Calibri"/>
            </a:endParaRPr>
          </a:p>
        </p:txBody>
      </p:sp>
      <p:sp>
        <p:nvSpPr>
          <p:cNvPr id="149" name="Google Shape;149;p20"/>
          <p:cNvSpPr/>
          <p:nvPr/>
        </p:nvSpPr>
        <p:spPr>
          <a:xfrm rot="4572394">
            <a:off x="4305875" y="257023"/>
            <a:ext cx="532249" cy="4337453"/>
          </a:xfrm>
          <a:prstGeom prst="downArrow">
            <a:avLst>
              <a:gd fmla="val 50000" name="adj1"/>
              <a:gd fmla="val 50000" name="adj2"/>
            </a:avLst>
          </a:prstGeom>
          <a:solidFill>
            <a:srgbClr val="98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21"/>
          <p:cNvPicPr preferRelativeResize="0"/>
          <p:nvPr/>
        </p:nvPicPr>
        <p:blipFill>
          <a:blip r:embed="rId3">
            <a:alphaModFix/>
          </a:blip>
          <a:stretch>
            <a:fillRect/>
          </a:stretch>
        </p:blipFill>
        <p:spPr>
          <a:xfrm>
            <a:off x="2580650" y="106475"/>
            <a:ext cx="3982725" cy="46090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p:nvPr/>
        </p:nvSpPr>
        <p:spPr>
          <a:xfrm>
            <a:off x="673215" y="798600"/>
            <a:ext cx="1096200" cy="3214500"/>
          </a:xfrm>
          <a:prstGeom prst="curvedRightArrow">
            <a:avLst>
              <a:gd fmla="val 25000" name="adj1"/>
              <a:gd fmla="val 50000" name="adj2"/>
              <a:gd fmla="val 25000" name="adj3"/>
            </a:avLst>
          </a:prstGeom>
          <a:solidFill>
            <a:srgbClr val="FFFF00"/>
          </a:solidFill>
          <a:ln>
            <a:noFill/>
          </a:ln>
        </p:spPr>
        <p:txBody>
          <a:bodyPr anchorCtr="0" anchor="ctr" bIns="74950" lIns="74950" spcFirstLastPara="1" rIns="74950" wrap="square" tIns="74950">
            <a:noAutofit/>
          </a:bodyPr>
          <a:lstStyle/>
          <a:p>
            <a:pPr indent="0" lvl="0" marL="0" rtl="0" algn="ctr">
              <a:spcBef>
                <a:spcPts val="0"/>
              </a:spcBef>
              <a:spcAft>
                <a:spcPts val="0"/>
              </a:spcAft>
              <a:buNone/>
            </a:pPr>
            <a:r>
              <a:t/>
            </a:r>
            <a:endParaRPr sz="1147">
              <a:latin typeface="Calibri"/>
              <a:ea typeface="Calibri"/>
              <a:cs typeface="Calibri"/>
              <a:sym typeface="Calibri"/>
            </a:endParaRPr>
          </a:p>
        </p:txBody>
      </p:sp>
      <p:sp>
        <p:nvSpPr>
          <p:cNvPr id="160" name="Google Shape;160;p22"/>
          <p:cNvSpPr/>
          <p:nvPr/>
        </p:nvSpPr>
        <p:spPr>
          <a:xfrm>
            <a:off x="1830171" y="3383704"/>
            <a:ext cx="3653400" cy="852600"/>
          </a:xfrm>
          <a:prstGeom prst="flowChartAlternateProcess">
            <a:avLst/>
          </a:prstGeom>
          <a:solidFill>
            <a:srgbClr val="FFFF00"/>
          </a:solidFill>
          <a:ln>
            <a:noFill/>
          </a:ln>
        </p:spPr>
        <p:txBody>
          <a:bodyPr anchorCtr="0" anchor="ctr" bIns="74950" lIns="74950" spcFirstLastPara="1" rIns="74950" wrap="square" tIns="74950">
            <a:noAutofit/>
          </a:bodyPr>
          <a:lstStyle/>
          <a:p>
            <a:pPr indent="0" lvl="0" marL="0" rtl="0" algn="l">
              <a:spcBef>
                <a:spcPts val="0"/>
              </a:spcBef>
              <a:spcAft>
                <a:spcPts val="0"/>
              </a:spcAft>
              <a:buNone/>
            </a:pPr>
            <a:r>
              <a:rPr lang="el" sz="1639">
                <a:latin typeface="Calibri"/>
                <a:ea typeface="Calibri"/>
                <a:cs typeface="Calibri"/>
                <a:sym typeface="Calibri"/>
              </a:rPr>
              <a:t>Glc remains constant,                    → 0 </a:t>
            </a:r>
            <a:endParaRPr sz="1639">
              <a:latin typeface="Calibri"/>
              <a:ea typeface="Calibri"/>
              <a:cs typeface="Calibri"/>
              <a:sym typeface="Calibri"/>
            </a:endParaRPr>
          </a:p>
        </p:txBody>
      </p:sp>
      <p:pic>
        <p:nvPicPr>
          <p:cNvPr id="161" name="Google Shape;161;p22"/>
          <p:cNvPicPr preferRelativeResize="0"/>
          <p:nvPr/>
        </p:nvPicPr>
        <p:blipFill>
          <a:blip r:embed="rId3">
            <a:alphaModFix/>
          </a:blip>
          <a:stretch>
            <a:fillRect/>
          </a:stretch>
        </p:blipFill>
        <p:spPr>
          <a:xfrm>
            <a:off x="1630693" y="562425"/>
            <a:ext cx="6840095" cy="2286734"/>
          </a:xfrm>
          <a:prstGeom prst="rect">
            <a:avLst/>
          </a:prstGeom>
          <a:noFill/>
          <a:ln>
            <a:noFill/>
          </a:ln>
        </p:spPr>
      </p:pic>
      <p:pic>
        <p:nvPicPr>
          <p:cNvPr id="162" name="Google Shape;162;p22"/>
          <p:cNvPicPr preferRelativeResize="0"/>
          <p:nvPr/>
        </p:nvPicPr>
        <p:blipFill rotWithShape="1">
          <a:blip r:embed="rId3">
            <a:alphaModFix/>
          </a:blip>
          <a:srcRect b="73263" l="5333" r="86633" t="6453"/>
          <a:stretch/>
        </p:blipFill>
        <p:spPr>
          <a:xfrm>
            <a:off x="3941250" y="3543775"/>
            <a:ext cx="630748" cy="532450"/>
          </a:xfrm>
          <a:prstGeom prst="rect">
            <a:avLst/>
          </a:prstGeom>
          <a:noFill/>
          <a:ln>
            <a:noFill/>
          </a:ln>
        </p:spPr>
      </p:pic>
      <p:pic>
        <p:nvPicPr>
          <p:cNvPr id="163" name="Google Shape;163;p22"/>
          <p:cNvPicPr preferRelativeResize="0"/>
          <p:nvPr/>
        </p:nvPicPr>
        <p:blipFill>
          <a:blip r:embed="rId4">
            <a:alphaModFix/>
          </a:blip>
          <a:stretch>
            <a:fillRect/>
          </a:stretch>
        </p:blipFill>
        <p:spPr>
          <a:xfrm>
            <a:off x="1830175" y="2904061"/>
            <a:ext cx="2195674" cy="2395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3"/>
          <p:cNvSpPr/>
          <p:nvPr/>
        </p:nvSpPr>
        <p:spPr>
          <a:xfrm>
            <a:off x="773602" y="2591561"/>
            <a:ext cx="1068000" cy="1552200"/>
          </a:xfrm>
          <a:prstGeom prst="curvedRightArrow">
            <a:avLst>
              <a:gd fmla="val 25000" name="adj1"/>
              <a:gd fmla="val 50000" name="adj2"/>
              <a:gd fmla="val 25000" name="adj3"/>
            </a:avLst>
          </a:prstGeom>
          <a:solidFill>
            <a:srgbClr val="FFFF00"/>
          </a:solidFill>
          <a:ln>
            <a:noFill/>
          </a:ln>
        </p:spPr>
        <p:txBody>
          <a:bodyPr anchorCtr="0" anchor="ctr" bIns="73025" lIns="73025" spcFirstLastPara="1" rIns="73025" wrap="square" tIns="73025">
            <a:noAutofit/>
          </a:bodyPr>
          <a:lstStyle/>
          <a:p>
            <a:pPr indent="0" lvl="0" marL="0" rtl="0" algn="ctr">
              <a:spcBef>
                <a:spcPts val="0"/>
              </a:spcBef>
              <a:spcAft>
                <a:spcPts val="0"/>
              </a:spcAft>
              <a:buNone/>
            </a:pPr>
            <a:r>
              <a:t/>
            </a:r>
            <a:endParaRPr sz="1118">
              <a:latin typeface="Calibri"/>
              <a:ea typeface="Calibri"/>
              <a:cs typeface="Calibri"/>
              <a:sym typeface="Calibri"/>
            </a:endParaRPr>
          </a:p>
        </p:txBody>
      </p:sp>
      <p:sp>
        <p:nvSpPr>
          <p:cNvPr id="169" name="Google Shape;169;p23"/>
          <p:cNvSpPr/>
          <p:nvPr/>
        </p:nvSpPr>
        <p:spPr>
          <a:xfrm>
            <a:off x="1900769" y="3530868"/>
            <a:ext cx="6469500" cy="830400"/>
          </a:xfrm>
          <a:prstGeom prst="flowChartAlternateProcess">
            <a:avLst/>
          </a:prstGeom>
          <a:solidFill>
            <a:srgbClr val="FFFF00"/>
          </a:solidFill>
          <a:ln>
            <a:noFill/>
          </a:ln>
        </p:spPr>
        <p:txBody>
          <a:bodyPr anchorCtr="0" anchor="ctr" bIns="73025" lIns="73025" spcFirstLastPara="1" rIns="73025" wrap="square" tIns="73025">
            <a:noAutofit/>
          </a:bodyPr>
          <a:lstStyle/>
          <a:p>
            <a:pPr indent="0" lvl="0" marL="0" rtl="0" algn="l">
              <a:spcBef>
                <a:spcPts val="0"/>
              </a:spcBef>
              <a:spcAft>
                <a:spcPts val="0"/>
              </a:spcAft>
              <a:buNone/>
            </a:pPr>
            <a:r>
              <a:rPr lang="el" sz="1597">
                <a:latin typeface="Calibri"/>
                <a:ea typeface="Calibri"/>
                <a:cs typeface="Calibri"/>
                <a:sym typeface="Calibri"/>
              </a:rPr>
              <a:t>QSS assumption,                                                      = 0    → </a:t>
            </a:r>
            <a:endParaRPr sz="1597">
              <a:latin typeface="Calibri"/>
              <a:ea typeface="Calibri"/>
              <a:cs typeface="Calibri"/>
              <a:sym typeface="Calibri"/>
            </a:endParaRPr>
          </a:p>
        </p:txBody>
      </p:sp>
      <p:pic>
        <p:nvPicPr>
          <p:cNvPr id="170" name="Google Shape;170;p23"/>
          <p:cNvPicPr preferRelativeResize="0"/>
          <p:nvPr/>
        </p:nvPicPr>
        <p:blipFill>
          <a:blip r:embed="rId3">
            <a:alphaModFix/>
          </a:blip>
          <a:stretch>
            <a:fillRect/>
          </a:stretch>
        </p:blipFill>
        <p:spPr>
          <a:xfrm>
            <a:off x="1706428" y="782237"/>
            <a:ext cx="6663977" cy="2227854"/>
          </a:xfrm>
          <a:prstGeom prst="rect">
            <a:avLst/>
          </a:prstGeom>
          <a:noFill/>
          <a:ln>
            <a:noFill/>
          </a:ln>
        </p:spPr>
      </p:pic>
      <p:pic>
        <p:nvPicPr>
          <p:cNvPr id="171" name="Google Shape;171;p23"/>
          <p:cNvPicPr preferRelativeResize="0"/>
          <p:nvPr/>
        </p:nvPicPr>
        <p:blipFill rotWithShape="1">
          <a:blip r:embed="rId3">
            <a:alphaModFix/>
          </a:blip>
          <a:srcRect b="4081" l="3019" r="62706" t="76228"/>
          <a:stretch/>
        </p:blipFill>
        <p:spPr>
          <a:xfrm>
            <a:off x="3543800" y="3727563"/>
            <a:ext cx="2275451" cy="437025"/>
          </a:xfrm>
          <a:prstGeom prst="rect">
            <a:avLst/>
          </a:prstGeom>
          <a:noFill/>
          <a:ln>
            <a:noFill/>
          </a:ln>
        </p:spPr>
      </p:pic>
      <p:pic>
        <p:nvPicPr>
          <p:cNvPr id="172" name="Google Shape;172;p23"/>
          <p:cNvPicPr preferRelativeResize="0"/>
          <p:nvPr/>
        </p:nvPicPr>
        <p:blipFill>
          <a:blip r:embed="rId4">
            <a:alphaModFix/>
          </a:blip>
          <a:stretch>
            <a:fillRect/>
          </a:stretch>
        </p:blipFill>
        <p:spPr>
          <a:xfrm>
            <a:off x="6674538" y="3682163"/>
            <a:ext cx="1604612" cy="527825"/>
          </a:xfrm>
          <a:prstGeom prst="rect">
            <a:avLst/>
          </a:prstGeom>
          <a:noFill/>
          <a:ln>
            <a:noFill/>
          </a:ln>
        </p:spPr>
      </p:pic>
      <p:pic>
        <p:nvPicPr>
          <p:cNvPr id="173" name="Google Shape;173;p23"/>
          <p:cNvPicPr preferRelativeResize="0"/>
          <p:nvPr/>
        </p:nvPicPr>
        <p:blipFill>
          <a:blip r:embed="rId5">
            <a:alphaModFix/>
          </a:blip>
          <a:stretch>
            <a:fillRect/>
          </a:stretch>
        </p:blipFill>
        <p:spPr>
          <a:xfrm>
            <a:off x="1900775" y="3052611"/>
            <a:ext cx="2195674" cy="2395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24"/>
          <p:cNvPicPr preferRelativeResize="0"/>
          <p:nvPr/>
        </p:nvPicPr>
        <p:blipFill>
          <a:blip r:embed="rId3">
            <a:alphaModFix/>
          </a:blip>
          <a:stretch>
            <a:fillRect/>
          </a:stretch>
        </p:blipFill>
        <p:spPr>
          <a:xfrm>
            <a:off x="57800" y="1336038"/>
            <a:ext cx="9028402" cy="24714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25"/>
          <p:cNvPicPr preferRelativeResize="0"/>
          <p:nvPr/>
        </p:nvPicPr>
        <p:blipFill>
          <a:blip r:embed="rId3">
            <a:alphaModFix/>
          </a:blip>
          <a:stretch>
            <a:fillRect/>
          </a:stretch>
        </p:blipFill>
        <p:spPr>
          <a:xfrm>
            <a:off x="3721439" y="759674"/>
            <a:ext cx="4686925" cy="3437550"/>
          </a:xfrm>
          <a:prstGeom prst="rect">
            <a:avLst/>
          </a:prstGeom>
          <a:noFill/>
          <a:ln>
            <a:noFill/>
          </a:ln>
        </p:spPr>
      </p:pic>
      <p:sp>
        <p:nvSpPr>
          <p:cNvPr id="184" name="Google Shape;184;p25"/>
          <p:cNvSpPr txBox="1"/>
          <p:nvPr/>
        </p:nvSpPr>
        <p:spPr>
          <a:xfrm>
            <a:off x="723850" y="2268450"/>
            <a:ext cx="2997600" cy="42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500">
                <a:solidFill>
                  <a:srgbClr val="3F3F3F"/>
                </a:solidFill>
                <a:latin typeface="Calibri"/>
                <a:ea typeface="Calibri"/>
                <a:cs typeface="Calibri"/>
                <a:sym typeface="Calibri"/>
              </a:rPr>
              <a:t>Checking for low energy values</a:t>
            </a:r>
            <a:endParaRPr sz="1500">
              <a:solidFill>
                <a:srgbClr val="3F3F3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26"/>
          <p:cNvPicPr preferRelativeResize="0"/>
          <p:nvPr/>
        </p:nvPicPr>
        <p:blipFill>
          <a:blip r:embed="rId3">
            <a:alphaModFix/>
          </a:blip>
          <a:stretch>
            <a:fillRect/>
          </a:stretch>
        </p:blipFill>
        <p:spPr>
          <a:xfrm>
            <a:off x="3842676" y="630225"/>
            <a:ext cx="4614800" cy="3577776"/>
          </a:xfrm>
          <a:prstGeom prst="rect">
            <a:avLst/>
          </a:prstGeom>
          <a:noFill/>
          <a:ln>
            <a:noFill/>
          </a:ln>
        </p:spPr>
      </p:pic>
      <p:sp>
        <p:nvSpPr>
          <p:cNvPr id="190" name="Google Shape;190;p26"/>
          <p:cNvSpPr txBox="1"/>
          <p:nvPr/>
        </p:nvSpPr>
        <p:spPr>
          <a:xfrm>
            <a:off x="345700" y="1440438"/>
            <a:ext cx="36198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F3F3F"/>
              </a:solidFill>
              <a:latin typeface="Calibri"/>
              <a:ea typeface="Calibri"/>
              <a:cs typeface="Calibri"/>
              <a:sym typeface="Calibri"/>
            </a:endParaRPr>
          </a:p>
          <a:p>
            <a:pPr indent="0" lvl="0" marL="0" rtl="0" algn="l">
              <a:spcBef>
                <a:spcPts val="0"/>
              </a:spcBef>
              <a:spcAft>
                <a:spcPts val="0"/>
              </a:spcAft>
              <a:buNone/>
            </a:pPr>
            <a:r>
              <a:t/>
            </a:r>
            <a:endParaRPr sz="1500">
              <a:solidFill>
                <a:srgbClr val="3F3F3F"/>
              </a:solidFill>
              <a:latin typeface="Calibri"/>
              <a:ea typeface="Calibri"/>
              <a:cs typeface="Calibri"/>
              <a:sym typeface="Calibri"/>
            </a:endParaRPr>
          </a:p>
          <a:p>
            <a:pPr indent="0" lvl="0" marL="0" rtl="0" algn="l">
              <a:spcBef>
                <a:spcPts val="0"/>
              </a:spcBef>
              <a:spcAft>
                <a:spcPts val="0"/>
              </a:spcAft>
              <a:buNone/>
            </a:pPr>
            <a:r>
              <a:t/>
            </a:r>
            <a:endParaRPr sz="1500">
              <a:solidFill>
                <a:srgbClr val="3F3F3F"/>
              </a:solidFill>
              <a:latin typeface="Calibri"/>
              <a:ea typeface="Calibri"/>
              <a:cs typeface="Calibri"/>
              <a:sym typeface="Calibri"/>
            </a:endParaRPr>
          </a:p>
          <a:p>
            <a:pPr indent="0" lvl="0" marL="457200" rtl="0" algn="l">
              <a:spcBef>
                <a:spcPts val="0"/>
              </a:spcBef>
              <a:spcAft>
                <a:spcPts val="0"/>
              </a:spcAft>
              <a:buNone/>
            </a:pPr>
            <a:r>
              <a:t/>
            </a:r>
            <a:endParaRPr sz="1500">
              <a:solidFill>
                <a:srgbClr val="3F3F3F"/>
              </a:solidFill>
              <a:latin typeface="Calibri"/>
              <a:ea typeface="Calibri"/>
              <a:cs typeface="Calibri"/>
              <a:sym typeface="Calibri"/>
            </a:endParaRPr>
          </a:p>
        </p:txBody>
      </p:sp>
      <p:pic>
        <p:nvPicPr>
          <p:cNvPr id="191" name="Google Shape;191;p26" title="Screenshot 2025-12-10 161105.png"/>
          <p:cNvPicPr preferRelativeResize="0"/>
          <p:nvPr/>
        </p:nvPicPr>
        <p:blipFill>
          <a:blip r:embed="rId4">
            <a:alphaModFix/>
          </a:blip>
          <a:stretch>
            <a:fillRect/>
          </a:stretch>
        </p:blipFill>
        <p:spPr>
          <a:xfrm>
            <a:off x="1241200" y="2347900"/>
            <a:ext cx="1828800" cy="447675"/>
          </a:xfrm>
          <a:prstGeom prst="rect">
            <a:avLst/>
          </a:prstGeom>
          <a:noFill/>
          <a:ln cap="flat" cmpd="sng" w="9525">
            <a:solidFill>
              <a:srgbClr val="FFFF00"/>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7"/>
          <p:cNvSpPr txBox="1"/>
          <p:nvPr>
            <p:ph type="title"/>
          </p:nvPr>
        </p:nvSpPr>
        <p:spPr>
          <a:xfrm>
            <a:off x="342900" y="445769"/>
            <a:ext cx="2400300" cy="17145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el"/>
              <a:t>Discussion Points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8"/>
          <p:cNvSpPr txBox="1"/>
          <p:nvPr>
            <p:ph type="title"/>
          </p:nvPr>
        </p:nvSpPr>
        <p:spPr>
          <a:xfrm>
            <a:off x="342900" y="445769"/>
            <a:ext cx="2400300" cy="17145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el"/>
              <a:t>Discussion Points</a:t>
            </a:r>
            <a:endParaRPr/>
          </a:p>
        </p:txBody>
      </p:sp>
      <p:sp>
        <p:nvSpPr>
          <p:cNvPr id="202" name="Google Shape;202;p28"/>
          <p:cNvSpPr/>
          <p:nvPr/>
        </p:nvSpPr>
        <p:spPr>
          <a:xfrm>
            <a:off x="4665175" y="1222275"/>
            <a:ext cx="2655300" cy="651900"/>
          </a:xfrm>
          <a:prstGeom prst="roundRect">
            <a:avLst>
              <a:gd fmla="val 16667" name="adj"/>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l">
                <a:latin typeface="Calibri"/>
                <a:ea typeface="Calibri"/>
                <a:cs typeface="Calibri"/>
                <a:sym typeface="Calibri"/>
              </a:rPr>
              <a:t>Optimising model for wide range of parameters</a:t>
            </a:r>
            <a:endParaRPr b="1">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9"/>
          <p:cNvSpPr txBox="1"/>
          <p:nvPr>
            <p:ph type="title"/>
          </p:nvPr>
        </p:nvSpPr>
        <p:spPr>
          <a:xfrm>
            <a:off x="342900" y="445769"/>
            <a:ext cx="2400300" cy="17145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el"/>
              <a:t>Discussion Points</a:t>
            </a:r>
            <a:endParaRPr/>
          </a:p>
        </p:txBody>
      </p:sp>
      <p:sp>
        <p:nvSpPr>
          <p:cNvPr id="208" name="Google Shape;208;p29"/>
          <p:cNvSpPr/>
          <p:nvPr/>
        </p:nvSpPr>
        <p:spPr>
          <a:xfrm>
            <a:off x="4665175" y="2245800"/>
            <a:ext cx="2655300" cy="651900"/>
          </a:xfrm>
          <a:prstGeom prst="roundRect">
            <a:avLst>
              <a:gd fmla="val 16667" name="adj"/>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l">
                <a:solidFill>
                  <a:schemeClr val="dk1"/>
                </a:solidFill>
                <a:latin typeface="Calibri"/>
                <a:ea typeface="Calibri"/>
                <a:cs typeface="Calibri"/>
                <a:sym typeface="Calibri"/>
              </a:rPr>
              <a:t>Examining data with different glucose uptake levels</a:t>
            </a:r>
            <a:endParaRPr b="1">
              <a:latin typeface="Calibri"/>
              <a:ea typeface="Calibri"/>
              <a:cs typeface="Calibri"/>
              <a:sym typeface="Calibri"/>
            </a:endParaRPr>
          </a:p>
        </p:txBody>
      </p:sp>
      <p:sp>
        <p:nvSpPr>
          <p:cNvPr id="209" name="Google Shape;209;p29"/>
          <p:cNvSpPr/>
          <p:nvPr/>
        </p:nvSpPr>
        <p:spPr>
          <a:xfrm>
            <a:off x="4665175" y="1222275"/>
            <a:ext cx="2655300" cy="651900"/>
          </a:xfrm>
          <a:prstGeom prst="roundRect">
            <a:avLst>
              <a:gd fmla="val 16667" name="adj"/>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l">
                <a:latin typeface="Calibri"/>
                <a:ea typeface="Calibri"/>
                <a:cs typeface="Calibri"/>
                <a:sym typeface="Calibri"/>
              </a:rPr>
              <a:t>Optimising model for wide range of parameters</a:t>
            </a:r>
            <a:endParaRPr b="1">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0"/>
          <p:cNvSpPr txBox="1"/>
          <p:nvPr>
            <p:ph type="title"/>
          </p:nvPr>
        </p:nvSpPr>
        <p:spPr>
          <a:xfrm>
            <a:off x="342900" y="445769"/>
            <a:ext cx="2400300" cy="17145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el"/>
              <a:t>Discussion Points</a:t>
            </a:r>
            <a:endParaRPr/>
          </a:p>
        </p:txBody>
      </p:sp>
      <p:sp>
        <p:nvSpPr>
          <p:cNvPr id="215" name="Google Shape;215;p30"/>
          <p:cNvSpPr/>
          <p:nvPr/>
        </p:nvSpPr>
        <p:spPr>
          <a:xfrm>
            <a:off x="4665175" y="3269325"/>
            <a:ext cx="2655300" cy="651900"/>
          </a:xfrm>
          <a:prstGeom prst="roundRect">
            <a:avLst>
              <a:gd fmla="val 16667" name="adj"/>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l">
                <a:solidFill>
                  <a:schemeClr val="dk1"/>
                </a:solidFill>
                <a:latin typeface="Calibri"/>
                <a:ea typeface="Calibri"/>
                <a:cs typeface="Calibri"/>
                <a:sym typeface="Calibri"/>
              </a:rPr>
              <a:t>Reintroducing OAA or other considered constant metabolites</a:t>
            </a:r>
            <a:endParaRPr b="1">
              <a:latin typeface="Calibri"/>
              <a:ea typeface="Calibri"/>
              <a:cs typeface="Calibri"/>
              <a:sym typeface="Calibri"/>
            </a:endParaRPr>
          </a:p>
        </p:txBody>
      </p:sp>
      <p:sp>
        <p:nvSpPr>
          <p:cNvPr id="216" name="Google Shape;216;p30"/>
          <p:cNvSpPr/>
          <p:nvPr/>
        </p:nvSpPr>
        <p:spPr>
          <a:xfrm>
            <a:off x="4665175" y="2245800"/>
            <a:ext cx="2655300" cy="651900"/>
          </a:xfrm>
          <a:prstGeom prst="roundRect">
            <a:avLst>
              <a:gd fmla="val 16667" name="adj"/>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l">
                <a:solidFill>
                  <a:schemeClr val="dk1"/>
                </a:solidFill>
                <a:latin typeface="Calibri"/>
                <a:ea typeface="Calibri"/>
                <a:cs typeface="Calibri"/>
                <a:sym typeface="Calibri"/>
              </a:rPr>
              <a:t>Examining data with different glucose uptake levels</a:t>
            </a:r>
            <a:endParaRPr b="1">
              <a:latin typeface="Calibri"/>
              <a:ea typeface="Calibri"/>
              <a:cs typeface="Calibri"/>
              <a:sym typeface="Calibri"/>
            </a:endParaRPr>
          </a:p>
        </p:txBody>
      </p:sp>
      <p:sp>
        <p:nvSpPr>
          <p:cNvPr id="217" name="Google Shape;217;p30"/>
          <p:cNvSpPr/>
          <p:nvPr/>
        </p:nvSpPr>
        <p:spPr>
          <a:xfrm>
            <a:off x="4665175" y="1222275"/>
            <a:ext cx="2655300" cy="651900"/>
          </a:xfrm>
          <a:prstGeom prst="roundRect">
            <a:avLst>
              <a:gd fmla="val 16667" name="adj"/>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l">
                <a:latin typeface="Calibri"/>
                <a:ea typeface="Calibri"/>
                <a:cs typeface="Calibri"/>
                <a:sym typeface="Calibri"/>
              </a:rPr>
              <a:t>Optimising model for wide range of parameters</a:t>
            </a:r>
            <a:endParaRPr b="1">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1"/>
          <p:cNvSpPr txBox="1"/>
          <p:nvPr>
            <p:ph type="ctrTitle"/>
          </p:nvPr>
        </p:nvSpPr>
        <p:spPr>
          <a:xfrm>
            <a:off x="822960" y="569214"/>
            <a:ext cx="7543800" cy="26745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el"/>
              <a:t>Thank you!	</a:t>
            </a:r>
            <a:endParaRPr/>
          </a:p>
        </p:txBody>
      </p:sp>
      <p:sp>
        <p:nvSpPr>
          <p:cNvPr id="223" name="Google Shape;223;p31"/>
          <p:cNvSpPr txBox="1"/>
          <p:nvPr>
            <p:ph idx="1" type="subTitle"/>
          </p:nvPr>
        </p:nvSpPr>
        <p:spPr>
          <a:xfrm>
            <a:off x="825038" y="3341716"/>
            <a:ext cx="7543800" cy="857400"/>
          </a:xfrm>
          <a:prstGeom prst="rect">
            <a:avLst/>
          </a:prstGeom>
        </p:spPr>
        <p:txBody>
          <a:bodyPr anchorCtr="0" anchor="t" bIns="34275" lIns="68575" spcFirstLastPara="1" rIns="68575" wrap="square" tIns="34275">
            <a:normAutofit/>
          </a:bodyPr>
          <a:lstStyle/>
          <a:p>
            <a:pPr indent="0" lvl="0" marL="0" rtl="0" algn="l">
              <a:spcBef>
                <a:spcPts val="900"/>
              </a:spcBef>
              <a:spcAft>
                <a:spcPts val="0"/>
              </a:spcAft>
              <a:buNone/>
            </a:pPr>
            <a:r>
              <a:rPr lang="el"/>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